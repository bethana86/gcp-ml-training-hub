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GOOGLE CLOUD MLOPS</a:t>
            </a:r>
          </a:p>
          <a:p>
            <a:pPr>
              <a:spcAft>
                <a:spcPts val="1600"/>
              </a:spcAft>
            </a:pPr>
            <a:r>
              <a:rPr sz="4800" b="1" i="0">
                <a:solidFill>
                  <a:srgbClr val="18181B"/>
                </a:solidFill>
                <a:latin typeface="Segoe UI"/>
              </a:rPr>
              <a:t>Vertex AI Feature Store</a:t>
            </a:r>
          </a:p>
          <a:p>
            <a:pPr>
              <a:spcAft>
                <a:spcPts val="3600"/>
              </a:spcAft>
            </a:pPr>
            <a:r>
              <a:rPr sz="1600" b="0" i="0">
                <a:solidFill>
                  <a:srgbClr val="3F3F46"/>
                </a:solidFill>
                <a:latin typeface="Segoe UI"/>
              </a:rPr>
              <a:t>Unifying ML Feature Engineering, Low-Latency Serving, and Point-in-Time Correct Offline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71717A"/>
                </a:solidFill>
                <a:latin typeface="Segoe UI"/>
              </a:rPr>
              <a:t>Presenter: Bethanasamy Rajamani  |  Audience: Professional ML Engineer Candidates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Core Challenges in Production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Train-Serve Skew: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ML models fail when prediction features are calculated differently than training features.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Data Leakage: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Incorporating "future data" into training sets during joins, invalidating offline evaluation validation.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Redundant Engineering: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Separate data engineering teams re-calculating the exact same feature values, driving up storage/compute costs.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A credit card fraud detector checks transaction velocities. If training calculated velocities using daily averages, but online inference queries them using 5-minute windows, the mismatch (skew) causes false negatives.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Traditional Databases Fall Short</a:t>
            </a:r>
          </a:p>
          <a:p>
            <a:pPr>
              <a:spcAft>
                <a:spcPts val="1600"/>
              </a:spcAft>
            </a:pPr>
            <a:r>
              <a:rPr sz="1100" b="0" i="0">
                <a:solidFill>
                  <a:srgbClr val="3F3F46"/>
                </a:solidFill>
                <a:latin typeface="Segoe UI"/>
              </a:rPr>
              <a:t>Relational databases (SQL) and analytical warehouses (BigQuery) cannot serve features with sub-15ms latency at scale. Conversely, transactional databases lack point-in-time snapshot mechanics, creating massive data leakage risks during dataset exports.</a:t>
            </a:r>
          </a:p>
          <a:p>
            <a:r>
              <a:rPr sz="1050" b="1" i="0">
                <a:solidFill>
                  <a:srgbClr val="1D4ED8"/>
                </a:solidFill>
                <a:latin typeface="Segoe UI"/>
              </a:rPr>
              <a:t>Example: Both fraud and billing teams writing two separate Spark jobs to calculate daily_user_active_hours leads to code redundancy and cost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ARCHITECTURAL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What is Vertex AI Feature Store?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8181B"/>
                </a:solidFill>
                <a:latin typeface="Segoe UI"/>
              </a:rPr>
              <a:t>A centralized, fully-managed Google Cloud registry to share, discover, and serve ML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Single Source of Truth: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Unifies preprocessing pipelines across batch and real-time.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Serverless Scale: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No infrastructure management. Scaling Bigtable and BigQuery slots are handled entirely by Google Cloud.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Integrations: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Built-in lineage hooks into Vertex AI Model Registry, Pipelines, and Model Monitoring.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A ride-sharing app uses online serving to retrieve driver ratings in 8ms during matching. For historical pricing analysis, it uses offline serving to export monthly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Operational Benefits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D4ED8"/>
                </a:solidFill>
                <a:latin typeface="Segoe UI"/>
              </a:rPr>
              <a:t>⚡ Sub-15ms Online Serving Latency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3F3F46"/>
                </a:solidFill>
                <a:latin typeface="Segoe UI"/>
              </a:rPr>
              <a:t>Powered by Cloud Bigtable key-value storage, delivering high-throughput gRPC lookups for real-time model inference at scale.</a:t>
            </a:r>
          </a:p>
          <a:p>
            <a:r>
              <a:rPr sz="1200" b="1" i="0">
                <a:solidFill>
                  <a:srgbClr val="047857"/>
                </a:solidFill>
                <a:latin typeface="Segoe UI"/>
              </a:rPr>
              <a:t>🔄 Zero-Copy BigQuery Views Integration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3F3F46"/>
                </a:solidFill>
                <a:latin typeface="Segoe UI"/>
              </a:rPr>
              <a:t>Queries BigQuery tables or logical views directly without copying physical data, eliminating duplication storage costs and pipeline lags.</a:t>
            </a:r>
          </a:p>
          <a:p>
            <a:r>
              <a:rPr sz="1200" b="1" i="0">
                <a:solidFill>
                  <a:srgbClr val="BE185D"/>
                </a:solidFill>
                <a:latin typeface="Segoe UI"/>
              </a:rPr>
              <a:t>🔗 Fully Auditable Metadata Lineage</a:t>
            </a:r>
          </a:p>
          <a:p>
            <a:r>
              <a:rPr sz="1050" b="0" i="0">
                <a:solidFill>
                  <a:srgbClr val="3F3F46"/>
                </a:solidFill>
                <a:latin typeface="Segoe UI"/>
              </a:rPr>
              <a:t>Integrated with Vertex ML Metadata to track feature origin, transformations, registry audits, and downstream model consumers.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DATA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Vertex AI Feature Store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Entity Type: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Represents a primary key tracking data records (e.g. user_id, product_id).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Feature Group: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Points directly to a source table/view in BigQuery containing attributes.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Feature View: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A read-only representation of features. Synchronizes directly with BigQuery without copying raw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Entity Type = customer_id. Feature Group = customer_orders (linked to BigQuery). Feature View = checkout_view (exposing features like last_order_amount).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Key Design Pattern</a:t>
            </a:r>
          </a:p>
          <a:p>
            <a:r>
              <a:rPr sz="1100" b="0" i="0">
                <a:solidFill>
                  <a:srgbClr val="3F3F46"/>
                </a:solidFill>
                <a:latin typeface="Segoe UI"/>
              </a:rPr>
              <a:t>You define Feature Groups to map BigQuery schemas. You register individual features within that group. Feature Views then expose specific subsets of these features to online serving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INGESTION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Batch &amp; Streaming Ingestions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Batch Ingestion (BigQuery):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Scheduled sync jobs that pull pre-calculated features. Animate packets showing scheduled sync runs.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Streaming Ingestion (Pub/Sub):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Ingests features in real-time. Events flow through Pub/Sub and Dataflow directly to the Feature Store.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Streaming Ingestion writes real-time customer clicks from Pub/Sub to the online store instantly. Batch ingestion synchronizes user credit ratings from BigQuery every midnight.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Active Data Ingestion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377440"/>
            <a:ext cx="3200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8181B"/>
                </a:solidFill>
                <a:latin typeface="Segoe UI"/>
              </a:rPr>
              <a:t>BigQuery</a:t>
            </a:r>
            <a:br/>
            <a:r>
              <a:t>(Batch Source)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937760"/>
            <a:ext cx="3200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8181B"/>
                </a:solidFill>
                <a:latin typeface="Segoe UI"/>
              </a:rPr>
              <a:t>Pub/Sub</a:t>
            </a:r>
            <a:br/>
            <a:r>
              <a:t>(Streaming Source)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657600"/>
            <a:ext cx="3200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8181B"/>
                </a:solidFill>
                <a:latin typeface="Segoe UI"/>
              </a:rPr>
              <a:t>Feature Store</a:t>
            </a:r>
            <a:br/>
            <a:r>
              <a:t>(Active Registry)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72600" y="3017520"/>
            <a:ext cx="0" cy="640080"/>
          </a:xfrm>
          <a:prstGeom prst="line">
            <a:avLst/>
          </a:prstGeom>
          <a:ln w="25400">
            <a:solidFill>
              <a:srgbClr val="BE185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372600" y="4297680"/>
            <a:ext cx="0" cy="640080"/>
          </a:xfrm>
          <a:prstGeom prst="line">
            <a:avLst/>
          </a:prstGeom>
          <a:ln w="25400">
            <a:solidFill>
              <a:srgbClr val="04785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SERVING (LOW LATENCY)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Online Serving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Cloud Bigtable: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The default serving engine. Scaled dynamically by Google Cloud to support massive, concurrent online requests.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Read Feature Values API: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Online endpoints request feature values by passing the Entity ID (e.g. user_id) and receiving vectors in milliseconds.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Zero-Latency Cache: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Feature Store buffers features to prevent server overloads during web traffic spikes.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The inference server queries user_1984 on port 8080 and fetches the feature vector [0.85 (ctr), 'Premium' (tier)] from Cloud Bigtable in 6.8ms.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Online serving gRPC query loop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310896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8181B"/>
                </a:solidFill>
                <a:latin typeface="Segoe UI"/>
              </a:rPr>
              <a:t>Model API</a:t>
            </a:r>
          </a:p>
        </p:txBody>
      </p:sp>
      <p:sp>
        <p:nvSpPr>
          <p:cNvPr id="8" name="Oval 7"/>
          <p:cNvSpPr/>
          <p:nvPr/>
        </p:nvSpPr>
        <p:spPr>
          <a:xfrm>
            <a:off x="9875520" y="31089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8181B"/>
                </a:solidFill>
                <a:latin typeface="Segoe UI"/>
              </a:rPr>
              <a:t>Bigtable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3383280"/>
            <a:ext cx="1005840" cy="0"/>
          </a:xfrm>
          <a:prstGeom prst="line">
            <a:avLst/>
          </a:prstGeom>
          <a:ln w="25400">
            <a:solidFill>
              <a:srgbClr val="04785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869680" y="3931920"/>
            <a:ext cx="1005840" cy="0"/>
          </a:xfrm>
          <a:prstGeom prst="line">
            <a:avLst/>
          </a:prstGeom>
          <a:ln w="25400">
            <a:solidFill>
              <a:srgbClr val="1D4ED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23960" y="2377440"/>
            <a:ext cx="1097280" cy="457200"/>
          </a:xfrm>
          <a:prstGeom prst="roundRect">
            <a:avLst/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i="0">
                <a:solidFill>
                  <a:srgbClr val="047857"/>
                </a:solidFill>
                <a:latin typeface="Consolas"/>
              </a:rPr>
              <a:t>6.8ms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SERVING (ANALYTICAL)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Offline Serving &amp; point-in-Time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Point-in-Time joins: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Prevents data leakage by retrieving feature values exactly as they existed at the timestamp of a historical training event.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Batch Exports: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Exports features to BigQuery or Cloud Storage folders to build massive training sets.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Scale: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Runs analytical joins across millions of training records, leveraging BigQuery slot allocations.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To train a churn model on a checkout event from Oct 5, 2:00 PM, the Feature Store runs a point-in-time join that retrieves features prior to 2:00 PM, ignoring any subsequent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Point-in-Time "Time Travel"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3474720"/>
            <a:ext cx="3383280" cy="36576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3383280"/>
            <a:ext cx="228600" cy="22860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3383280"/>
            <a:ext cx="228600" cy="22860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3383280"/>
            <a:ext cx="228600" cy="228600"/>
          </a:xfrm>
          <a:prstGeom prst="ellipse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2377440"/>
            <a:ext cx="36576" cy="1828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Segoe UI"/>
              </a:rPr>
              <a:t>Dynamic Join Timestamp (T_event)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E185D"/>
                </a:solidFill>
                <a:latin typeface="Segoe UI"/>
              </a:rPr>
              <a:t>[Future Data Blocked]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DEVELOPER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Vertex AI SDK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8181B"/>
                </a:solidFill>
                <a:latin typeface="Segoe UI"/>
              </a:rPr>
              <a:t>Interacting with Vertex AI Feature Store programmatically: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5912" cy="310896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BE185D"/>
                </a:solidFill>
                <a:latin typeface="Consolas"/>
              </a:rPr>
              <a:t>from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google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.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cloud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1" i="0">
                <a:solidFill>
                  <a:srgbClr val="BE185D"/>
                </a:solidFill>
                <a:latin typeface="Consolas"/>
              </a:rPr>
              <a:t>import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aiplatform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181B"/>
                </a:solidFill>
                <a:latin typeface="Consolas"/>
              </a:rPr>
              <a:t>aiplatform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.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init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(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project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047857"/>
                </a:solidFill>
                <a:latin typeface="Consolas"/>
              </a:rPr>
              <a:t>"my-gcp-project"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,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location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047857"/>
                </a:solidFill>
                <a:latin typeface="Consolas"/>
              </a:rPr>
              <a:t>"us-central1"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950" b="0" i="1">
                <a:solidFill>
                  <a:srgbClr val="71717A"/>
                </a:solidFill>
                <a:latin typeface="Consolas"/>
              </a:rPr>
              <a:t># Define reference to registered Feature View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181B"/>
                </a:solidFill>
                <a:latin typeface="Consolas"/>
              </a:rPr>
              <a:t>feature_view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aiplatform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.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FeatureView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feature_view_name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047857"/>
                </a:solidFill>
                <a:latin typeface="Consolas"/>
              </a:rPr>
              <a:t>"user_features"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feature_online_store_id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047857"/>
                </a:solidFill>
                <a:latin typeface="Consolas"/>
              </a:rPr>
              <a:t>"user_online_store"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3F3F4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950" b="0" i="1">
                <a:solidFill>
                  <a:srgbClr val="71717A"/>
                </a:solidFill>
                <a:latin typeface="Consolas"/>
              </a:rPr>
              <a:t># Fetch real-time online feature values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181B"/>
                </a:solidFill>
                <a:latin typeface="Consolas"/>
              </a:rPr>
              <a:t>response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feature_view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.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read_feature_values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entity_ids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=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[</a:t>
            </a:r>
            <a:r>
              <a:rPr sz="950" b="0" i="0">
                <a:solidFill>
                  <a:srgbClr val="047857"/>
                </a:solidFill>
                <a:latin typeface="Consolas"/>
              </a:rPr>
              <a:t>"user_10294"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3F3F46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950" b="1" i="0">
                <a:solidFill>
                  <a:srgbClr val="BE185D"/>
                </a:solidFill>
                <a:latin typeface="Consolas"/>
              </a:rPr>
              <a:t>print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(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response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.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values</a:t>
            </a:r>
            <a:r>
              <a:rPr sz="950" b="0" i="0">
                <a:solidFill>
                  <a:srgbClr val="3F3F46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This Python query is integrated inside a web-serving Flask/FastAPI app to dynamically fetch driver ratings and enrich matching payloads before passing variables to model predictors.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OPERATIONS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Google Cloud CLI (gcloud)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8181B"/>
                </a:solidFill>
                <a:latin typeface="Segoe UI"/>
              </a:rPr>
              <a:t>Managing Feature Store infrastructure using terminal commands: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725912" cy="3108960"/>
          </a:xfrm>
          <a:prstGeom prst="rect">
            <a:avLst/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200"/>
              </a:spcAft>
            </a:pPr>
            <a:r>
              <a:rPr sz="950" b="0" i="1">
                <a:solidFill>
                  <a:srgbClr val="71717A"/>
                </a:solidFill>
                <a:latin typeface="Consolas"/>
              </a:rPr>
              <a:t># Create online store instance backed by Bigtable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D4ED8"/>
                </a:solidFill>
                <a:latin typeface="Consolas"/>
              </a:rPr>
              <a:t>gcloud </a:t>
            </a:r>
            <a:r>
              <a:rPr sz="950" b="0" i="0">
                <a:solidFill>
                  <a:srgbClr val="1D4ED8"/>
                </a:solidFill>
                <a:latin typeface="Consolas"/>
              </a:rPr>
              <a:t>vertex-ai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feature-online-stores </a:t>
            </a:r>
            <a:r>
              <a:rPr sz="950" b="0" i="0">
                <a:solidFill>
                  <a:srgbClr val="1D4ED8"/>
                </a:solidFill>
                <a:latin typeface="Consolas"/>
              </a:rPr>
              <a:t>create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user-online-store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BE185D"/>
                </a:solidFill>
                <a:latin typeface="Consolas"/>
              </a:rPr>
              <a:t>--region=us-central1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BE185D"/>
                </a:solidFill>
                <a:latin typeface="Consolas"/>
              </a:rPr>
              <a:t>--bigtable-min-node-count=1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BE185D"/>
                </a:solidFill>
                <a:latin typeface="Consolas"/>
              </a:rPr>
              <a:t>--bigtable-max-node-count=5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8181B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950" b="0" i="1">
                <a:solidFill>
                  <a:srgbClr val="71717A"/>
                </a:solidFill>
                <a:latin typeface="Consolas"/>
              </a:rPr>
              <a:t># Synchronize feature view with BigQuery source data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1D4ED8"/>
                </a:solidFill>
                <a:latin typeface="Consolas"/>
              </a:rPr>
              <a:t>gcloud </a:t>
            </a:r>
            <a:r>
              <a:rPr sz="950" b="0" i="0">
                <a:solidFill>
                  <a:srgbClr val="1D4ED8"/>
                </a:solidFill>
                <a:latin typeface="Consolas"/>
              </a:rPr>
              <a:t>vertex-ai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feature-views </a:t>
            </a:r>
            <a:r>
              <a:rPr sz="950" b="0" i="0">
                <a:solidFill>
                  <a:srgbClr val="1D4ED8"/>
                </a:solidFill>
                <a:latin typeface="Consolas"/>
              </a:rPr>
              <a:t>sync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user-features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BE185D"/>
                </a:solidFill>
                <a:latin typeface="Consolas"/>
              </a:rPr>
              <a:t>--feature-online-store=user-online-store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18181B"/>
                </a:solidFill>
                <a:latin typeface="Consolas"/>
              </a:rPr>
              <a:t> </a:t>
            </a:r>
            <a:r>
              <a:rPr sz="950" b="0" i="0">
                <a:solidFill>
                  <a:srgbClr val="BE185D"/>
                </a:solidFill>
                <a:latin typeface="Consolas"/>
              </a:rPr>
              <a:t>--region=us-central1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MLOps engineers run these gcloud scripts inside Cloud Build templates to automatically create and update feature registries when new schemas are merged into main branches.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MLOPS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Model Monitoring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Continuous Skew Checks: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Automated alerts if serving feature distributions drift from baseline training datasets (TFRecord profiles).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PSI Metric: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Model Monitoring calculates Population Stability Index. If PSI exceeds 0.20, alerts notify engineering teams.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Automated Retraining: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Integration with Pub/Sub allows alerting systems to launch retraining DAGs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Monitoring user age distributions. Baseline training mean was 24. Shifted average in serving hits 42 (PSI = 0.28). System alerts trigger an automated retraining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MLOps Operations Loop</a:t>
            </a:r>
          </a:p>
          <a:p>
            <a:r>
              <a:rPr sz="1150" b="0" i="0">
                <a:solidFill>
                  <a:srgbClr val="3F3F46"/>
                </a:solidFill>
                <a:latin typeface="Segoe UI"/>
              </a:rPr>
              <a:t>Unifying features within the Feature Store ensures the baseline reference schemas remain identical, eliminating manual calculations during drift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IAM Permissions &amp; Access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roles/aiplatform.admin: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Grants full control over Feature Store creation, schema modification, and resource deletions.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roles/aiplatform.user: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Allows listing, searching, reading, and exporting feature values. Default role for ML engineers and clients.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VPC Service Controls: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Lock Feature Store endpoints inside a private security boundary, protecting datasets from exfiltration.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The online prediction container's service account is granted the aiplatform.user role, enabling it to query features on port 8080 while blocking write configurations.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Security Rule</a:t>
            </a:r>
          </a:p>
          <a:p>
            <a:r>
              <a:rPr sz="1150" b="0" i="0">
                <a:solidFill>
                  <a:srgbClr val="3F3F46"/>
                </a:solidFill>
                <a:latin typeface="Segoe UI"/>
              </a:rPr>
              <a:t>Service accounts attached to prediction serving containers must possess the roles/aiplatform.user role to successfully pull online features on port 8080.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Segoe U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18181B"/>
                </a:solidFill>
                <a:latin typeface="Segoe UI"/>
              </a:rPr>
              <a:t>Architect's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Train-Serve Skew: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Eliminate skew by serving and training from the same Feature Store views.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Data Leakage: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Eliminate leakage by deploying point-in-time snapshot joins.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Online Store: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Backed by Bigtable for sub-15ms serving latencies.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1D4ED8"/>
                </a:solidFill>
                <a:latin typeface="Segoe UI"/>
              </a:rPr>
              <a:t>→  </a:t>
            </a:r>
            <a:r>
              <a:rPr sz="1250" b="1" i="0">
                <a:solidFill>
                  <a:srgbClr val="18181B"/>
                </a:solidFill>
                <a:latin typeface="Segoe UI"/>
              </a:rPr>
              <a:t>Offline Store: </a:t>
            </a:r>
            <a:r>
              <a:rPr sz="1250" b="0" i="0">
                <a:solidFill>
                  <a:srgbClr val="3F3F46"/>
                </a:solidFill>
                <a:latin typeface="Segoe UI"/>
              </a:rPr>
              <a:t>Integrates with BigQuery for large analytical dataset creation.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6217920" cy="1371600"/>
          </a:xfrm>
          <a:prstGeom prst="rect">
            <a:avLst/>
          </a:prstGeom>
          <a:solidFill>
            <a:srgbClr val="F4F4F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REAL-WORLD EXAMPLE</a:t>
            </a:r>
          </a:p>
          <a:p>
            <a:r>
              <a:rPr sz="1000" b="0" i="1">
                <a:solidFill>
                  <a:srgbClr val="3F3F46"/>
                </a:solidFill>
                <a:latin typeface="Segoe UI"/>
              </a:rPr>
              <a:t>On the exam, if they request sub-10ms serving, historical data timelines, or data quality assurances for tabular features, Vertex AI Feature Store is the correct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</a:pPr>
            <a:r>
              <a:rPr sz="1600" b="1" i="0">
                <a:solidFill>
                  <a:srgbClr val="18181B"/>
                </a:solidFill>
                <a:latin typeface="Segoe UI"/>
              </a:rPr>
              <a:t>Exam Tip</a:t>
            </a:r>
          </a:p>
          <a:p>
            <a:r>
              <a:rPr sz="1150" b="0" i="0">
                <a:solidFill>
                  <a:srgbClr val="3F3F46"/>
                </a:solidFill>
                <a:latin typeface="Segoe UI"/>
              </a:rPr>
              <a:t>If a scenario requires real-time serving latency, user sharing, or data leakage protection, **Vertex AI Feature Store** is always the correct GCP ML solution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