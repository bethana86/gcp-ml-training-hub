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914400" y="1828800"/>
            <a:ext cx="10360152" cy="2926080"/>
          </a:xfrm>
          <a:prstGeom prst="rect">
            <a:avLst/>
          </a:prstGeom>
          <a:noFill/>
        </p:spPr>
        <p:txBody>
          <a:bodyPr wrap="square" lIns="0" rIns="0" tIns="0" bIns="0">
            <a:spAutoFit/>
          </a:bodyPr>
          <a:lstStyle/>
          <a:p>
            <a:pPr>
              <a:spcAft>
                <a:spcPts val="1000"/>
              </a:spcAft>
            </a:pPr>
            <a:r>
              <a:rPr sz="1300" b="1" i="0">
                <a:solidFill>
                  <a:srgbClr val="1D4ED8"/>
                </a:solidFill>
                <a:latin typeface="Segoe UI"/>
              </a:rPr>
              <a:t>GOOGLE CLOUD MLOPS</a:t>
            </a:r>
          </a:p>
          <a:p>
            <a:pPr>
              <a:spcAft>
                <a:spcPts val="1600"/>
              </a:spcAft>
            </a:pPr>
            <a:r>
              <a:rPr sz="4800" b="1" i="0">
                <a:solidFill>
                  <a:srgbClr val="18181B"/>
                </a:solidFill>
                <a:latin typeface="Segoe UI"/>
              </a:rPr>
              <a:t>Vertex AI Feature Store</a:t>
            </a:r>
          </a:p>
          <a:p>
            <a:pPr>
              <a:spcAft>
                <a:spcPts val="3600"/>
              </a:spcAft>
            </a:pPr>
            <a:r>
              <a:rPr sz="1600" b="0" i="0">
                <a:solidFill>
                  <a:srgbClr val="3F3F46"/>
                </a:solidFill>
                <a:latin typeface="Segoe UI"/>
              </a:rPr>
              <a:t>Unifying ML Feature Engineering, Low-Latency Serving, and Point-in-Time Correct Offline Datasets</a:t>
            </a:r>
          </a:p>
        </p:txBody>
      </p:sp>
      <p:sp>
        <p:nvSpPr>
          <p:cNvPr id="3" name="TextBox 2"/>
          <p:cNvSpPr txBox="1"/>
          <p:nvPr/>
        </p:nvSpPr>
        <p:spPr>
          <a:xfrm>
            <a:off x="914400" y="5303520"/>
            <a:ext cx="10360152" cy="457200"/>
          </a:xfrm>
          <a:prstGeom prst="rect">
            <a:avLst/>
          </a:prstGeom>
          <a:noFill/>
        </p:spPr>
        <p:txBody>
          <a:bodyPr wrap="square" lIns="0" rIns="0" tIns="0" bIns="0">
            <a:spAutoFit/>
          </a:bodyPr>
          <a:lstStyle/>
          <a:p>
            <a:r>
              <a:rPr sz="1150" b="0" i="0">
                <a:solidFill>
                  <a:srgbClr val="71717A"/>
                </a:solidFill>
                <a:latin typeface="Segoe UI"/>
              </a:rPr>
              <a:t>Presenter: Bethanasamy Rajamani  |  Audience: Professional ML Engineer Candidates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THE PROBLEM</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Core Challenges in Production ML</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Train-Serve Skew: </a:t>
            </a:r>
            <a:r>
              <a:rPr sz="1250" b="0" i="0">
                <a:solidFill>
                  <a:srgbClr val="3F3F46"/>
                </a:solidFill>
                <a:latin typeface="Segoe UI"/>
              </a:rPr>
              <a:t>ML models fail when prediction features are calculated differently than training features.</a:t>
            </a:r>
          </a:p>
          <a:p>
            <a:pPr>
              <a:spcAft>
                <a:spcPts val="1200"/>
              </a:spcAft>
            </a:pPr>
            <a:r>
              <a:rPr sz="1300" b="1" i="0">
                <a:solidFill>
                  <a:srgbClr val="1D4ED8"/>
                </a:solidFill>
                <a:latin typeface="Segoe UI"/>
              </a:rPr>
              <a:t>→  </a:t>
            </a:r>
            <a:r>
              <a:rPr sz="1250" b="1" i="0">
                <a:solidFill>
                  <a:srgbClr val="18181B"/>
                </a:solidFill>
                <a:latin typeface="Segoe UI"/>
              </a:rPr>
              <a:t>Data Leakage: </a:t>
            </a:r>
            <a:r>
              <a:rPr sz="1250" b="0" i="0">
                <a:solidFill>
                  <a:srgbClr val="3F3F46"/>
                </a:solidFill>
                <a:latin typeface="Segoe UI"/>
              </a:rPr>
              <a:t>Incorporating "future data" into training sets during joins, invalidating offline evaluation validation.</a:t>
            </a:r>
          </a:p>
          <a:p>
            <a:pPr>
              <a:spcAft>
                <a:spcPts val="1200"/>
              </a:spcAft>
            </a:pPr>
            <a:r>
              <a:rPr sz="1300" b="1" i="0">
                <a:solidFill>
                  <a:srgbClr val="1D4ED8"/>
                </a:solidFill>
                <a:latin typeface="Segoe UI"/>
              </a:rPr>
              <a:t>→  </a:t>
            </a:r>
            <a:r>
              <a:rPr sz="1250" b="1" i="0">
                <a:solidFill>
                  <a:srgbClr val="18181B"/>
                </a:solidFill>
                <a:latin typeface="Segoe UI"/>
              </a:rPr>
              <a:t>Redundant Engineering: </a:t>
            </a:r>
            <a:r>
              <a:rPr sz="1250" b="0" i="0">
                <a:solidFill>
                  <a:srgbClr val="3F3F46"/>
                </a:solidFill>
                <a:latin typeface="Segoe UI"/>
              </a:rPr>
              <a:t>Separate data engineering teams re-calculating the exact same feature values, driving up storage/compute costs.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credit card fraud detector checks transaction velocities. If training calculated velocities using daily averages, but online inference queries them using 5-minute windows, the mismatch (skew) causes false negatives.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Traditional Databases Fall Short</a:t>
            </a:r>
          </a:p>
          <a:p>
            <a:pPr>
              <a:spcAft>
                <a:spcPts val="1600"/>
              </a:spcAft>
            </a:pPr>
            <a:r>
              <a:rPr sz="1100" b="0" i="0">
                <a:solidFill>
                  <a:srgbClr val="3F3F46"/>
                </a:solidFill>
                <a:latin typeface="Segoe UI"/>
              </a:rPr>
              <a:t>Relational databases (SQL) and analytical warehouses (BigQuery) cannot serve features with sub-15ms latency at scale. Conversely, transactional databases lack point-in-time snapshot mechanics, creating massive data leakage risks during dataset exports.</a:t>
            </a:r>
          </a:p>
          <a:p>
            <a:r>
              <a:rPr sz="1050" b="1" i="0">
                <a:solidFill>
                  <a:srgbClr val="1D4ED8"/>
                </a:solidFill>
                <a:latin typeface="Segoe UI"/>
              </a:rPr>
              <a:t>Example: Both fraud and billing teams writing two separate Spark jobs to calculate daily_user_active_hours leads to code redundancy and cost waste.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ARCHITECTURAL OVERVIEW</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What is Vertex AI Feature Store?</a:t>
            </a:r>
          </a:p>
        </p:txBody>
      </p:sp>
      <p:sp>
        <p:nvSpPr>
          <p:cNvPr id="4" name="TextBox 3"/>
          <p:cNvSpPr txBox="1"/>
          <p:nvPr/>
        </p:nvSpPr>
        <p:spPr>
          <a:xfrm>
            <a:off x="731520" y="1371600"/>
            <a:ext cx="6217920" cy="457200"/>
          </a:xfrm>
          <a:prstGeom prst="rect">
            <a:avLst/>
          </a:prstGeom>
          <a:noFill/>
        </p:spPr>
        <p:txBody>
          <a:bodyPr wrap="none">
            <a:spAutoFit/>
          </a:bodyPr>
          <a:lstStyle/>
          <a:p>
            <a:r>
              <a:rPr sz="1300" b="1" i="0">
                <a:solidFill>
                  <a:srgbClr val="18181B"/>
                </a:solidFill>
                <a:latin typeface="Segoe UI"/>
              </a:rPr>
              <a:t>A centralized, fully-managed Google Cloud registry to share, discover, and serve ML features.</a:t>
            </a:r>
          </a:p>
        </p:txBody>
      </p:sp>
      <p:sp>
        <p:nvSpPr>
          <p:cNvPr id="5" name="TextBox 4"/>
          <p:cNvSpPr txBox="1"/>
          <p:nvPr/>
        </p:nvSpPr>
        <p:spPr>
          <a:xfrm>
            <a:off x="731520" y="1920240"/>
            <a:ext cx="6217920" cy="265176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Single Source of Truth: </a:t>
            </a:r>
            <a:r>
              <a:rPr sz="1250" b="0" i="0">
                <a:solidFill>
                  <a:srgbClr val="3F3F46"/>
                </a:solidFill>
                <a:latin typeface="Segoe UI"/>
              </a:rPr>
              <a:t>Unifies preprocessing pipelines across batch and real-time.</a:t>
            </a:r>
          </a:p>
          <a:p>
            <a:pPr>
              <a:spcAft>
                <a:spcPts val="1200"/>
              </a:spcAft>
            </a:pPr>
            <a:r>
              <a:rPr sz="1300" b="1" i="0">
                <a:solidFill>
                  <a:srgbClr val="1D4ED8"/>
                </a:solidFill>
                <a:latin typeface="Segoe UI"/>
              </a:rPr>
              <a:t>→  </a:t>
            </a:r>
            <a:r>
              <a:rPr sz="1250" b="1" i="0">
                <a:solidFill>
                  <a:srgbClr val="18181B"/>
                </a:solidFill>
                <a:latin typeface="Segoe UI"/>
              </a:rPr>
              <a:t>Serverless Scale: </a:t>
            </a:r>
            <a:r>
              <a:rPr sz="1250" b="0" i="0">
                <a:solidFill>
                  <a:srgbClr val="3F3F46"/>
                </a:solidFill>
                <a:latin typeface="Segoe UI"/>
              </a:rPr>
              <a:t>No infrastructure management. Scaling Bigtable and BigQuery slots are handled entirely by Google Cloud.</a:t>
            </a:r>
          </a:p>
          <a:p>
            <a:pPr>
              <a:spcAft>
                <a:spcPts val="1200"/>
              </a:spcAft>
            </a:pPr>
            <a:r>
              <a:rPr sz="1300" b="1" i="0">
                <a:solidFill>
                  <a:srgbClr val="1D4ED8"/>
                </a:solidFill>
                <a:latin typeface="Segoe UI"/>
              </a:rPr>
              <a:t>→  </a:t>
            </a:r>
            <a:r>
              <a:rPr sz="1250" b="1" i="0">
                <a:solidFill>
                  <a:srgbClr val="18181B"/>
                </a:solidFill>
                <a:latin typeface="Segoe UI"/>
              </a:rPr>
              <a:t>Integrations: </a:t>
            </a:r>
            <a:r>
              <a:rPr sz="1250" b="0" i="0">
                <a:solidFill>
                  <a:srgbClr val="3F3F46"/>
                </a:solidFill>
                <a:latin typeface="Segoe UI"/>
              </a:rPr>
              <a:t>Built-in lineage hooks into Vertex AI Model Registry, Pipelines, and Model Monitoring.</a:t>
            </a:r>
          </a:p>
        </p:txBody>
      </p:sp>
      <p:sp>
        <p:nvSpPr>
          <p:cNvPr id="6" name="Rectangle 5"/>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A ride-sharing app uses online serving to retrieve driver ratings in 8ms during matching. For historical pricing analysis, it uses offline serving to export monthly coordinates.</a:t>
            </a:r>
          </a:p>
        </p:txBody>
      </p:sp>
      <p:sp>
        <p:nvSpPr>
          <p:cNvPr id="7" name="Rounded Rectangle 6"/>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Operational Benefits</a:t>
            </a:r>
          </a:p>
          <a:p>
            <a:pPr>
              <a:spcBef>
                <a:spcPts val="400"/>
              </a:spcBef>
            </a:pPr>
            <a:r>
              <a:rPr sz="1200" b="1" i="0">
                <a:solidFill>
                  <a:srgbClr val="1D4ED8"/>
                </a:solidFill>
                <a:latin typeface="Segoe UI"/>
              </a:rPr>
              <a:t>⚡ Sub-15ms Online Serving Latency</a:t>
            </a:r>
          </a:p>
          <a:p>
            <a:pPr>
              <a:spcAft>
                <a:spcPts val="1000"/>
              </a:spcAft>
            </a:pPr>
            <a:r>
              <a:rPr sz="1050" b="0" i="0">
                <a:solidFill>
                  <a:srgbClr val="3F3F46"/>
                </a:solidFill>
                <a:latin typeface="Segoe UI"/>
              </a:rPr>
              <a:t>Powered by Cloud Bigtable key-value storage, delivering high-throughput gRPC lookups for real-time model inference at scale.</a:t>
            </a:r>
          </a:p>
          <a:p>
            <a:r>
              <a:rPr sz="1200" b="1" i="0">
                <a:solidFill>
                  <a:srgbClr val="047857"/>
                </a:solidFill>
                <a:latin typeface="Segoe UI"/>
              </a:rPr>
              <a:t>🔄 Zero-Copy BigQuery Views Integration</a:t>
            </a:r>
          </a:p>
          <a:p>
            <a:pPr>
              <a:spcAft>
                <a:spcPts val="1000"/>
              </a:spcAft>
            </a:pPr>
            <a:r>
              <a:rPr sz="1050" b="0" i="0">
                <a:solidFill>
                  <a:srgbClr val="3F3F46"/>
                </a:solidFill>
                <a:latin typeface="Segoe UI"/>
              </a:rPr>
              <a:t>Queries BigQuery tables or logical views directly without copying physical data, eliminating duplication storage costs and pipeline lags.</a:t>
            </a:r>
          </a:p>
          <a:p>
            <a:r>
              <a:rPr sz="1200" b="1" i="0">
                <a:solidFill>
                  <a:srgbClr val="BE185D"/>
                </a:solidFill>
                <a:latin typeface="Segoe UI"/>
              </a:rPr>
              <a:t>🔗 Fully Auditable Metadata Lineage</a:t>
            </a:r>
          </a:p>
          <a:p>
            <a:r>
              <a:rPr sz="1050" b="0" i="0">
                <a:solidFill>
                  <a:srgbClr val="3F3F46"/>
                </a:solidFill>
                <a:latin typeface="Segoe UI"/>
              </a:rPr>
              <a:t>Integrated with Vertex ML Metadata to track feature origin, transformations, registry audits, and downstream model consumers.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DATA MODELING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Vertex AI Feature Store Hierarchy</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Entity Type: </a:t>
            </a:r>
            <a:r>
              <a:rPr sz="1250" b="0" i="0">
                <a:solidFill>
                  <a:srgbClr val="3F3F46"/>
                </a:solidFill>
                <a:latin typeface="Segoe UI"/>
              </a:rPr>
              <a:t>Represents a primary key tracking data records (e.g. user_id, product_id).</a:t>
            </a:r>
          </a:p>
          <a:p>
            <a:pPr>
              <a:spcAft>
                <a:spcPts val="1200"/>
              </a:spcAft>
            </a:pPr>
            <a:r>
              <a:rPr sz="1300" b="1" i="0">
                <a:solidFill>
                  <a:srgbClr val="1D4ED8"/>
                </a:solidFill>
                <a:latin typeface="Segoe UI"/>
              </a:rPr>
              <a:t>→  </a:t>
            </a:r>
            <a:r>
              <a:rPr sz="1250" b="1" i="0">
                <a:solidFill>
                  <a:srgbClr val="18181B"/>
                </a:solidFill>
                <a:latin typeface="Segoe UI"/>
              </a:rPr>
              <a:t>Feature Group: </a:t>
            </a:r>
            <a:r>
              <a:rPr sz="1250" b="0" i="0">
                <a:solidFill>
                  <a:srgbClr val="3F3F46"/>
                </a:solidFill>
                <a:latin typeface="Segoe UI"/>
              </a:rPr>
              <a:t>Points directly to a source table/view in BigQuery containing attributes.</a:t>
            </a:r>
          </a:p>
          <a:p>
            <a:pPr>
              <a:spcAft>
                <a:spcPts val="1200"/>
              </a:spcAft>
            </a:pPr>
            <a:r>
              <a:rPr sz="1300" b="1" i="0">
                <a:solidFill>
                  <a:srgbClr val="1D4ED8"/>
                </a:solidFill>
                <a:latin typeface="Segoe UI"/>
              </a:rPr>
              <a:t>→  </a:t>
            </a:r>
            <a:r>
              <a:rPr sz="1250" b="1" i="0">
                <a:solidFill>
                  <a:srgbClr val="18181B"/>
                </a:solidFill>
                <a:latin typeface="Segoe UI"/>
              </a:rPr>
              <a:t>Feature View: </a:t>
            </a:r>
            <a:r>
              <a:rPr sz="1250" b="0" i="0">
                <a:solidFill>
                  <a:srgbClr val="3F3F46"/>
                </a:solidFill>
                <a:latin typeface="Segoe UI"/>
              </a:rPr>
              <a:t>A read-only representation of features. Synchronizes directly with BigQuery without copying raw data.</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Entity Type = customer_id. Feature Group = customer_orders (linked to BigQuery). Feature View = checkout_view (exposing features like last_order_amount).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Key Design Pattern</a:t>
            </a:r>
          </a:p>
          <a:p>
            <a:r>
              <a:rPr sz="1100" b="0" i="0">
                <a:solidFill>
                  <a:srgbClr val="3F3F46"/>
                </a:solidFill>
                <a:latin typeface="Segoe UI"/>
              </a:rPr>
              <a:t>You define Feature Groups to map BigQuery schemas. You register individual features within that group. Feature Views then expose specific subsets of these features to online serving APIs.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INGESTION PIPELINES</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Batch &amp; Streaming Ingestions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Batch Ingestion (BigQuery): </a:t>
            </a:r>
            <a:r>
              <a:rPr sz="1250" b="0" i="0">
                <a:solidFill>
                  <a:srgbClr val="3F3F46"/>
                </a:solidFill>
                <a:latin typeface="Segoe UI"/>
              </a:rPr>
              <a:t>Scheduled sync jobs that pull pre-calculated features. Animate packets showing scheduled sync runs.</a:t>
            </a:r>
          </a:p>
          <a:p>
            <a:pPr>
              <a:spcAft>
                <a:spcPts val="1200"/>
              </a:spcAft>
            </a:pPr>
            <a:r>
              <a:rPr sz="1300" b="1" i="0">
                <a:solidFill>
                  <a:srgbClr val="1D4ED8"/>
                </a:solidFill>
                <a:latin typeface="Segoe UI"/>
              </a:rPr>
              <a:t>→  </a:t>
            </a:r>
            <a:r>
              <a:rPr sz="1250" b="1" i="0">
                <a:solidFill>
                  <a:srgbClr val="18181B"/>
                </a:solidFill>
                <a:latin typeface="Segoe UI"/>
              </a:rPr>
              <a:t>Streaming Ingestion (Pub/Sub): </a:t>
            </a:r>
            <a:r>
              <a:rPr sz="1250" b="0" i="0">
                <a:solidFill>
                  <a:srgbClr val="3F3F46"/>
                </a:solidFill>
                <a:latin typeface="Segoe UI"/>
              </a:rPr>
              <a:t>Ingests features in real-time. Events flow through Pub/Sub and Dataflow directly to the Feature Store.</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Streaming Ingestion writes real-time customer clicks from Pub/Sub to the online store instantly. Batch ingestion synchronizes user credit ratings from BigQuery every midnight.</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Active Data Ingestion Pipeline</a:t>
            </a:r>
          </a:p>
        </p:txBody>
      </p:sp>
      <p:sp>
        <p:nvSpPr>
          <p:cNvPr id="7" name="Rounded Rectangle 6"/>
          <p:cNvSpPr/>
          <p:nvPr/>
        </p:nvSpPr>
        <p:spPr>
          <a:xfrm>
            <a:off x="7772400" y="2377440"/>
            <a:ext cx="3200400" cy="640080"/>
          </a:xfrm>
          <a:prstGeom prst="roundRect">
            <a:avLst/>
          </a:prstGeom>
          <a:solidFill>
            <a:srgbClr val="FFFFFF"/>
          </a:solidFill>
          <a:ln w="19050">
            <a:solidFill>
              <a:srgbClr val="BE185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18181B"/>
                </a:solidFill>
                <a:latin typeface="Segoe UI"/>
              </a:rPr>
              <a:t>BigQuery</a:t>
            </a:r>
            <a:br/>
            <a:r>
              <a:t>(Batch Source)</a:t>
            </a:r>
          </a:p>
        </p:txBody>
      </p:sp>
      <p:sp>
        <p:nvSpPr>
          <p:cNvPr id="8" name="Rounded Rectangle 7"/>
          <p:cNvSpPr/>
          <p:nvPr/>
        </p:nvSpPr>
        <p:spPr>
          <a:xfrm>
            <a:off x="7772400" y="4937760"/>
            <a:ext cx="3200400" cy="640080"/>
          </a:xfrm>
          <a:prstGeom prst="roundRect">
            <a:avLst/>
          </a:prstGeom>
          <a:solidFill>
            <a:srgbClr val="FFFFFF"/>
          </a:solidFill>
          <a:ln w="1905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18181B"/>
                </a:solidFill>
                <a:latin typeface="Segoe UI"/>
              </a:rPr>
              <a:t>Pub/Sub</a:t>
            </a:r>
            <a:br/>
            <a:r>
              <a:t>(Streaming Source)</a:t>
            </a:r>
          </a:p>
        </p:txBody>
      </p:sp>
      <p:sp>
        <p:nvSpPr>
          <p:cNvPr id="9" name="Rounded Rectangle 8"/>
          <p:cNvSpPr/>
          <p:nvPr/>
        </p:nvSpPr>
        <p:spPr>
          <a:xfrm>
            <a:off x="7772400" y="3657600"/>
            <a:ext cx="3200400" cy="640080"/>
          </a:xfrm>
          <a:prstGeom prst="roundRect">
            <a:avLst/>
          </a:prstGeom>
          <a:solidFill>
            <a:srgbClr val="FFFFFF"/>
          </a:solidFill>
          <a:ln w="254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18181B"/>
                </a:solidFill>
                <a:latin typeface="Segoe UI"/>
              </a:rPr>
              <a:t>Feature Store</a:t>
            </a:r>
            <a:br/>
            <a:r>
              <a:t>(Active Registry)</a:t>
            </a:r>
          </a:p>
        </p:txBody>
      </p:sp>
      <p:cxnSp>
        <p:nvCxnSpPr>
          <p:cNvPr id="10" name="Connector 9"/>
          <p:cNvCxnSpPr/>
          <p:nvPr/>
        </p:nvCxnSpPr>
        <p:spPr>
          <a:xfrm>
            <a:off x="9372600" y="3017520"/>
            <a:ext cx="0" cy="640080"/>
          </a:xfrm>
          <a:prstGeom prst="line">
            <a:avLst/>
          </a:prstGeom>
          <a:ln w="25400">
            <a:solidFill>
              <a:srgbClr val="BE185D"/>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9372600" y="4297680"/>
            <a:ext cx="0" cy="64008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SERVING (LOW LATENCY)</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Online Serving Mechanics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Cloud Bigtable: </a:t>
            </a:r>
            <a:r>
              <a:rPr sz="1250" b="0" i="0">
                <a:solidFill>
                  <a:srgbClr val="3F3F46"/>
                </a:solidFill>
                <a:latin typeface="Segoe UI"/>
              </a:rPr>
              <a:t>The default serving engine. Scaled dynamically by Google Cloud to support massive, concurrent online requests.</a:t>
            </a:r>
          </a:p>
          <a:p>
            <a:pPr>
              <a:spcAft>
                <a:spcPts val="1200"/>
              </a:spcAft>
            </a:pPr>
            <a:r>
              <a:rPr sz="1300" b="1" i="0">
                <a:solidFill>
                  <a:srgbClr val="1D4ED8"/>
                </a:solidFill>
                <a:latin typeface="Segoe UI"/>
              </a:rPr>
              <a:t>→  </a:t>
            </a:r>
            <a:r>
              <a:rPr sz="1250" b="1" i="0">
                <a:solidFill>
                  <a:srgbClr val="18181B"/>
                </a:solidFill>
                <a:latin typeface="Segoe UI"/>
              </a:rPr>
              <a:t>Read Feature Values API: </a:t>
            </a:r>
            <a:r>
              <a:rPr sz="1250" b="0" i="0">
                <a:solidFill>
                  <a:srgbClr val="3F3F46"/>
                </a:solidFill>
                <a:latin typeface="Segoe UI"/>
              </a:rPr>
              <a:t>Online endpoints request feature values by passing the Entity ID (e.g. user_id) and receiving vectors in milliseconds.</a:t>
            </a:r>
          </a:p>
          <a:p>
            <a:pPr>
              <a:spcAft>
                <a:spcPts val="1200"/>
              </a:spcAft>
            </a:pPr>
            <a:r>
              <a:rPr sz="1300" b="1" i="0">
                <a:solidFill>
                  <a:srgbClr val="1D4ED8"/>
                </a:solidFill>
                <a:latin typeface="Segoe UI"/>
              </a:rPr>
              <a:t>→  </a:t>
            </a:r>
            <a:r>
              <a:rPr sz="1250" b="1" i="0">
                <a:solidFill>
                  <a:srgbClr val="18181B"/>
                </a:solidFill>
                <a:latin typeface="Segoe UI"/>
              </a:rPr>
              <a:t>Zero-Latency Cache: </a:t>
            </a:r>
            <a:r>
              <a:rPr sz="1250" b="0" i="0">
                <a:solidFill>
                  <a:srgbClr val="3F3F46"/>
                </a:solidFill>
                <a:latin typeface="Segoe UI"/>
              </a:rPr>
              <a:t>Feature Store buffers features to prevent server overloads during web traffic spikes.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The inference server queries user_1984 on port 8080 and fetches the feature vector [0.85 (ctr), 'Premium' (tier)] from Cloud Bigtable in 6.8ms.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Online serving gRPC query loop</a:t>
            </a:r>
          </a:p>
        </p:txBody>
      </p:sp>
      <p:sp>
        <p:nvSpPr>
          <p:cNvPr id="7" name="Oval 6"/>
          <p:cNvSpPr/>
          <p:nvPr/>
        </p:nvSpPr>
        <p:spPr>
          <a:xfrm>
            <a:off x="7772400" y="3108960"/>
            <a:ext cx="1097280" cy="1097280"/>
          </a:xfrm>
          <a:prstGeom prst="ellipse">
            <a:avLst/>
          </a:prstGeom>
          <a:solidFill>
            <a:srgbClr val="FFFFFF"/>
          </a:solidFill>
          <a:ln w="19050">
            <a:solidFill>
              <a:srgbClr val="3F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Model API</a:t>
            </a:r>
          </a:p>
        </p:txBody>
      </p:sp>
      <p:sp>
        <p:nvSpPr>
          <p:cNvPr id="8" name="Oval 7"/>
          <p:cNvSpPr/>
          <p:nvPr/>
        </p:nvSpPr>
        <p:spPr>
          <a:xfrm>
            <a:off x="9875520" y="3108960"/>
            <a:ext cx="1097280" cy="1097280"/>
          </a:xfrm>
          <a:prstGeom prst="ellipse">
            <a:avLst/>
          </a:prstGeom>
          <a:solidFill>
            <a:srgbClr val="FFFFFF"/>
          </a:solidFill>
          <a:ln w="254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18181B"/>
                </a:solidFill>
                <a:latin typeface="Segoe UI"/>
              </a:rPr>
              <a:t>Bigtable</a:t>
            </a:r>
          </a:p>
        </p:txBody>
      </p:sp>
      <p:cxnSp>
        <p:nvCxnSpPr>
          <p:cNvPr id="9" name="Connector 8"/>
          <p:cNvCxnSpPr/>
          <p:nvPr/>
        </p:nvCxnSpPr>
        <p:spPr>
          <a:xfrm>
            <a:off x="8869680" y="3383280"/>
            <a:ext cx="1005840" cy="0"/>
          </a:xfrm>
          <a:prstGeom prst="line">
            <a:avLst/>
          </a:prstGeom>
          <a:ln w="25400">
            <a:solidFill>
              <a:srgbClr val="047857"/>
            </a:solidFill>
            <a:tailEnd type="arrow"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869680" y="3931920"/>
            <a:ext cx="1005840" cy="0"/>
          </a:xfrm>
          <a:prstGeom prst="line">
            <a:avLst/>
          </a:prstGeom>
          <a:ln w="25400">
            <a:solidFill>
              <a:srgbClr val="1D4ED8"/>
            </a:solidFill>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823960" y="2377440"/>
            <a:ext cx="1097280" cy="457200"/>
          </a:xfrm>
          <a:prstGeom prst="round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50" b="1" i="0">
                <a:solidFill>
                  <a:srgbClr val="047857"/>
                </a:solidFill>
                <a:latin typeface="Consolas"/>
              </a:rPr>
              <a:t>6.8ms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SERVING (ANALYTICAL)</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Offline Serving &amp; point-in-Time Joins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Point-in-Time joins: </a:t>
            </a:r>
            <a:r>
              <a:rPr sz="1250" b="0" i="0">
                <a:solidFill>
                  <a:srgbClr val="3F3F46"/>
                </a:solidFill>
                <a:latin typeface="Segoe UI"/>
              </a:rPr>
              <a:t>Prevents data leakage by retrieving feature values exactly as they existed at the timestamp of a historical training event.</a:t>
            </a:r>
          </a:p>
          <a:p>
            <a:pPr>
              <a:spcAft>
                <a:spcPts val="1200"/>
              </a:spcAft>
            </a:pPr>
            <a:r>
              <a:rPr sz="1300" b="1" i="0">
                <a:solidFill>
                  <a:srgbClr val="1D4ED8"/>
                </a:solidFill>
                <a:latin typeface="Segoe UI"/>
              </a:rPr>
              <a:t>→  </a:t>
            </a:r>
            <a:r>
              <a:rPr sz="1250" b="1" i="0">
                <a:solidFill>
                  <a:srgbClr val="18181B"/>
                </a:solidFill>
                <a:latin typeface="Segoe UI"/>
              </a:rPr>
              <a:t>Batch Exports: </a:t>
            </a:r>
            <a:r>
              <a:rPr sz="1250" b="0" i="0">
                <a:solidFill>
                  <a:srgbClr val="3F3F46"/>
                </a:solidFill>
                <a:latin typeface="Segoe UI"/>
              </a:rPr>
              <a:t>Exports features to BigQuery or Cloud Storage folders to build massive training sets.</a:t>
            </a:r>
          </a:p>
          <a:p>
            <a:pPr>
              <a:spcAft>
                <a:spcPts val="1200"/>
              </a:spcAft>
            </a:pPr>
            <a:r>
              <a:rPr sz="1300" b="1" i="0">
                <a:solidFill>
                  <a:srgbClr val="1D4ED8"/>
                </a:solidFill>
                <a:latin typeface="Segoe UI"/>
              </a:rPr>
              <a:t>→  </a:t>
            </a:r>
            <a:r>
              <a:rPr sz="1250" b="1" i="0">
                <a:solidFill>
                  <a:srgbClr val="18181B"/>
                </a:solidFill>
                <a:latin typeface="Segoe UI"/>
              </a:rPr>
              <a:t>Scale: </a:t>
            </a:r>
            <a:r>
              <a:rPr sz="1250" b="0" i="0">
                <a:solidFill>
                  <a:srgbClr val="3F3F46"/>
                </a:solidFill>
                <a:latin typeface="Segoe UI"/>
              </a:rPr>
              <a:t>Runs analytical joins across millions of training records, leveraging BigQuery slot allocations.</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To train a churn model on a checkout event from Oct 5, 2:00 PM, the Feature Store runs a point-in-time join that retrieves features prior to 2:00 PM, ignoring any subsequent activity.</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Point-in-Time "Time Travel" Join</a:t>
            </a:r>
          </a:p>
        </p:txBody>
      </p:sp>
      <p:sp>
        <p:nvSpPr>
          <p:cNvPr id="7" name="Rectangle 6"/>
          <p:cNvSpPr/>
          <p:nvPr/>
        </p:nvSpPr>
        <p:spPr>
          <a:xfrm>
            <a:off x="7680960" y="3474720"/>
            <a:ext cx="3383280" cy="36576"/>
          </a:xfrm>
          <a:prstGeom prst="rect">
            <a:avLst/>
          </a:prstGeom>
          <a:solidFill>
            <a:srgbClr val="D4D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0" y="3383280"/>
            <a:ext cx="228600" cy="228600"/>
          </a:xfrm>
          <a:prstGeom prst="ellipse">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0" y="3383280"/>
            <a:ext cx="228600" cy="228600"/>
          </a:xfrm>
          <a:prstGeom prst="ellipse">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332720" y="3383280"/>
            <a:ext cx="228600" cy="228600"/>
          </a:xfrm>
          <a:prstGeom prst="ellipse">
            <a:avLst/>
          </a:prstGeom>
          <a:solidFill>
            <a:srgbClr val="7171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784080" y="2377440"/>
            <a:ext cx="36576" cy="18288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1920240"/>
            <a:ext cx="3383280" cy="365760"/>
          </a:xfrm>
          <a:prstGeom prst="rect">
            <a:avLst/>
          </a:prstGeom>
          <a:noFill/>
        </p:spPr>
        <p:txBody>
          <a:bodyPr wrap="square">
            <a:spAutoFit/>
          </a:bodyPr>
          <a:lstStyle/>
          <a:p>
            <a:pPr algn="ctr"/>
            <a:r>
              <a:rPr sz="1000" b="1" i="0">
                <a:solidFill>
                  <a:srgbClr val="1D4ED8"/>
                </a:solidFill>
                <a:latin typeface="Segoe UI"/>
              </a:rPr>
              <a:t>Dynamic Join Timestamp (T_event)</a:t>
            </a:r>
          </a:p>
        </p:txBody>
      </p:sp>
      <p:sp>
        <p:nvSpPr>
          <p:cNvPr id="13" name="TextBox 12"/>
          <p:cNvSpPr txBox="1"/>
          <p:nvPr/>
        </p:nvSpPr>
        <p:spPr>
          <a:xfrm>
            <a:off x="7680960" y="4297680"/>
            <a:ext cx="3383280" cy="365760"/>
          </a:xfrm>
          <a:prstGeom prst="rect">
            <a:avLst/>
          </a:prstGeom>
          <a:noFill/>
        </p:spPr>
        <p:txBody>
          <a:bodyPr wrap="square">
            <a:spAutoFit/>
          </a:bodyPr>
          <a:lstStyle/>
          <a:p>
            <a:pPr algn="ctr"/>
            <a:r>
              <a:rPr sz="1000" b="1" i="0">
                <a:solidFill>
                  <a:srgbClr val="BE185D"/>
                </a:solidFill>
                <a:latin typeface="Segoe UI"/>
              </a:rPr>
              <a:t>[Future Data Blocked]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DEVELOPER GUIDE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Vertex AI SDK (Python)</a:t>
            </a:r>
          </a:p>
        </p:txBody>
      </p:sp>
      <p:sp>
        <p:nvSpPr>
          <p:cNvPr id="4" name="TextBox 3"/>
          <p:cNvSpPr txBox="1"/>
          <p:nvPr/>
        </p:nvSpPr>
        <p:spPr>
          <a:xfrm>
            <a:off x="731520" y="1280160"/>
            <a:ext cx="10698480" cy="365760"/>
          </a:xfrm>
          <a:prstGeom prst="rect">
            <a:avLst/>
          </a:prstGeom>
          <a:noFill/>
        </p:spPr>
        <p:txBody>
          <a:bodyPr wrap="none">
            <a:spAutoFit/>
          </a:bodyPr>
          <a:lstStyle/>
          <a:p>
            <a:r>
              <a:rPr sz="1300" b="0" i="0">
                <a:solidFill>
                  <a:srgbClr val="18181B"/>
                </a:solidFill>
                <a:latin typeface="Segoe UI"/>
              </a:rPr>
              <a:t>Interacting with Vertex AI Feature Store programmatically:</a:t>
            </a:r>
          </a:p>
        </p:txBody>
      </p:sp>
      <p:sp>
        <p:nvSpPr>
          <p:cNvPr id="5" name="Rectangle 4"/>
          <p:cNvSpPr/>
          <p:nvPr/>
        </p:nvSpPr>
        <p:spPr>
          <a:xfrm>
            <a:off x="731520" y="1737360"/>
            <a:ext cx="10725912" cy="3108960"/>
          </a:xfrm>
          <a:prstGeom prst="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200"/>
              </a:spcAft>
            </a:pPr>
            <a:r>
              <a:rPr sz="950" b="1" i="0">
                <a:solidFill>
                  <a:srgbClr val="BE185D"/>
                </a:solidFill>
                <a:latin typeface="Consolas"/>
              </a:rPr>
              <a:t>from</a:t>
            </a:r>
            <a:r>
              <a:rPr sz="950" b="0" i="0">
                <a:solidFill>
                  <a:srgbClr val="3F3F46"/>
                </a:solidFill>
                <a:latin typeface="Consolas"/>
              </a:rPr>
              <a:t> </a:t>
            </a:r>
            <a:r>
              <a:rPr sz="950" b="0" i="0">
                <a:solidFill>
                  <a:srgbClr val="18181B"/>
                </a:solidFill>
                <a:latin typeface="Consolas"/>
              </a:rPr>
              <a:t>google</a:t>
            </a:r>
            <a:r>
              <a:rPr sz="950" b="0" i="0">
                <a:solidFill>
                  <a:srgbClr val="3F3F46"/>
                </a:solidFill>
                <a:latin typeface="Consolas"/>
              </a:rPr>
              <a:t>.</a:t>
            </a:r>
            <a:r>
              <a:rPr sz="950" b="0" i="0">
                <a:solidFill>
                  <a:srgbClr val="18181B"/>
                </a:solidFill>
                <a:latin typeface="Consolas"/>
              </a:rPr>
              <a:t>cloud</a:t>
            </a:r>
            <a:r>
              <a:rPr sz="950" b="0" i="0">
                <a:solidFill>
                  <a:srgbClr val="3F3F46"/>
                </a:solidFill>
                <a:latin typeface="Consolas"/>
              </a:rPr>
              <a:t> </a:t>
            </a:r>
            <a:r>
              <a:rPr sz="950" b="1" i="0">
                <a:solidFill>
                  <a:srgbClr val="BE185D"/>
                </a:solidFill>
                <a:latin typeface="Consolas"/>
              </a:rPr>
              <a:t>import</a:t>
            </a:r>
            <a:r>
              <a:rPr sz="950" b="0" i="0">
                <a:solidFill>
                  <a:srgbClr val="3F3F46"/>
                </a:solidFill>
                <a:latin typeface="Consolas"/>
              </a:rPr>
              <a:t> </a:t>
            </a:r>
            <a:r>
              <a:rPr sz="950" b="0" i="0">
                <a:solidFill>
                  <a:srgbClr val="18181B"/>
                </a:solidFill>
                <a:latin typeface="Consolas"/>
              </a:rPr>
              <a:t>aiplatform</a:t>
            </a:r>
          </a:p>
          <a:p>
            <a:pPr>
              <a:spcAft>
                <a:spcPts val="200"/>
              </a:spcAft>
            </a:pPr>
          </a:p>
          <a:p>
            <a:pPr>
              <a:spcAft>
                <a:spcPts val="200"/>
              </a:spcAft>
            </a:pPr>
            <a:r>
              <a:rPr sz="950" b="0" i="0">
                <a:solidFill>
                  <a:srgbClr val="18181B"/>
                </a:solidFill>
                <a:latin typeface="Consolas"/>
              </a:rPr>
              <a:t>aiplatform</a:t>
            </a:r>
            <a:r>
              <a:rPr sz="950" b="0" i="0">
                <a:solidFill>
                  <a:srgbClr val="3F3F46"/>
                </a:solidFill>
                <a:latin typeface="Consolas"/>
              </a:rPr>
              <a:t>.</a:t>
            </a:r>
            <a:r>
              <a:rPr sz="950" b="0" i="0">
                <a:solidFill>
                  <a:srgbClr val="18181B"/>
                </a:solidFill>
                <a:latin typeface="Consolas"/>
              </a:rPr>
              <a:t>init</a:t>
            </a:r>
            <a:r>
              <a:rPr sz="950" b="0" i="0">
                <a:solidFill>
                  <a:srgbClr val="3F3F46"/>
                </a:solidFill>
                <a:latin typeface="Consolas"/>
              </a:rPr>
              <a:t>(</a:t>
            </a:r>
            <a:r>
              <a:rPr sz="950" b="0" i="0">
                <a:solidFill>
                  <a:srgbClr val="18181B"/>
                </a:solidFill>
                <a:latin typeface="Consolas"/>
              </a:rPr>
              <a:t>project</a:t>
            </a:r>
            <a:r>
              <a:rPr sz="950" b="0" i="0">
                <a:solidFill>
                  <a:srgbClr val="3F3F46"/>
                </a:solidFill>
                <a:latin typeface="Consolas"/>
              </a:rPr>
              <a:t>=</a:t>
            </a:r>
            <a:r>
              <a:rPr sz="950" b="0" i="0">
                <a:solidFill>
                  <a:srgbClr val="047857"/>
                </a:solidFill>
                <a:latin typeface="Consolas"/>
              </a:rPr>
              <a:t>"my-gcp-project"</a:t>
            </a:r>
            <a:r>
              <a:rPr sz="950" b="0" i="0">
                <a:solidFill>
                  <a:srgbClr val="3F3F46"/>
                </a:solidFill>
                <a:latin typeface="Consolas"/>
              </a:rPr>
              <a:t>,</a:t>
            </a:r>
            <a:r>
              <a:rPr sz="950" b="0" i="0">
                <a:solidFill>
                  <a:srgbClr val="3F3F46"/>
                </a:solidFill>
                <a:latin typeface="Consolas"/>
              </a:rPr>
              <a:t> </a:t>
            </a:r>
            <a:r>
              <a:rPr sz="950" b="0" i="0">
                <a:solidFill>
                  <a:srgbClr val="18181B"/>
                </a:solidFill>
                <a:latin typeface="Consolas"/>
              </a:rPr>
              <a:t>location</a:t>
            </a:r>
            <a:r>
              <a:rPr sz="950" b="0" i="0">
                <a:solidFill>
                  <a:srgbClr val="3F3F46"/>
                </a:solidFill>
                <a:latin typeface="Consolas"/>
              </a:rPr>
              <a:t>=</a:t>
            </a:r>
            <a:r>
              <a:rPr sz="950" b="0" i="0">
                <a:solidFill>
                  <a:srgbClr val="047857"/>
                </a:solidFill>
                <a:latin typeface="Consolas"/>
              </a:rPr>
              <a:t>"us-central1"</a:t>
            </a:r>
            <a:r>
              <a:rPr sz="950" b="0" i="0">
                <a:solidFill>
                  <a:srgbClr val="3F3F46"/>
                </a:solidFill>
                <a:latin typeface="Consolas"/>
              </a:rPr>
              <a:t>)</a:t>
            </a:r>
          </a:p>
          <a:p>
            <a:pPr>
              <a:spcAft>
                <a:spcPts val="200"/>
              </a:spcAft>
            </a:pPr>
          </a:p>
          <a:p>
            <a:pPr>
              <a:spcAft>
                <a:spcPts val="200"/>
              </a:spcAft>
            </a:pPr>
            <a:r>
              <a:rPr sz="950" b="0" i="1">
                <a:solidFill>
                  <a:srgbClr val="71717A"/>
                </a:solidFill>
                <a:latin typeface="Consolas"/>
              </a:rPr>
              <a:t># Define reference to registered Feature View</a:t>
            </a:r>
          </a:p>
          <a:p>
            <a:pPr>
              <a:spcAft>
                <a:spcPts val="200"/>
              </a:spcAft>
            </a:pPr>
            <a:r>
              <a:rPr sz="950" b="0" i="0">
                <a:solidFill>
                  <a:srgbClr val="18181B"/>
                </a:solidFill>
                <a:latin typeface="Consolas"/>
              </a:rPr>
              <a:t>feature_view</a:t>
            </a:r>
            <a:r>
              <a:rPr sz="950" b="0" i="0">
                <a:solidFill>
                  <a:srgbClr val="3F3F46"/>
                </a:solidFill>
                <a:latin typeface="Consolas"/>
              </a:rPr>
              <a:t> </a:t>
            </a:r>
            <a:r>
              <a:rPr sz="950" b="0" i="0">
                <a:solidFill>
                  <a:srgbClr val="3F3F46"/>
                </a:solidFill>
                <a:latin typeface="Consolas"/>
              </a:rPr>
              <a:t>=</a:t>
            </a:r>
            <a:r>
              <a:rPr sz="950" b="0" i="0">
                <a:solidFill>
                  <a:srgbClr val="3F3F46"/>
                </a:solidFill>
                <a:latin typeface="Consolas"/>
              </a:rPr>
              <a:t> </a:t>
            </a:r>
            <a:r>
              <a:rPr sz="950" b="0" i="0">
                <a:solidFill>
                  <a:srgbClr val="18181B"/>
                </a:solidFill>
                <a:latin typeface="Consolas"/>
              </a:rPr>
              <a:t>aiplatform</a:t>
            </a:r>
            <a:r>
              <a:rPr sz="950" b="0" i="0">
                <a:solidFill>
                  <a:srgbClr val="3F3F46"/>
                </a:solidFill>
                <a:latin typeface="Consolas"/>
              </a:rPr>
              <a:t>.</a:t>
            </a:r>
            <a:r>
              <a:rPr sz="950" b="0" i="0">
                <a:solidFill>
                  <a:srgbClr val="18181B"/>
                </a:solidFill>
                <a:latin typeface="Consolas"/>
              </a:rPr>
              <a:t>FeatureView</a:t>
            </a:r>
            <a:r>
              <a:rPr sz="950" b="0" i="0">
                <a:solidFill>
                  <a:srgbClr val="3F3F46"/>
                </a:solidFill>
                <a:latin typeface="Consolas"/>
              </a:rPr>
              <a:t>(</a:t>
            </a:r>
          </a:p>
          <a:p>
            <a:pPr>
              <a:spcAft>
                <a:spcPts val="200"/>
              </a:spcAft>
            </a:pPr>
            <a:r>
              <a:rPr sz="950" b="0" i="0">
                <a:solidFill>
                  <a:srgbClr val="3F3F46"/>
                </a:solidFill>
                <a:latin typeface="Consolas"/>
              </a:rPr>
              <a:t> </a:t>
            </a:r>
            <a:r>
              <a:rPr sz="950" b="0" i="0">
                <a:solidFill>
                  <a:srgbClr val="3F3F46"/>
                </a:solidFill>
                <a:latin typeface="Consolas"/>
              </a:rPr>
              <a:t> </a:t>
            </a:r>
            <a:r>
              <a:rPr sz="950" b="0" i="0">
                <a:solidFill>
                  <a:srgbClr val="3F3F46"/>
                </a:solidFill>
                <a:latin typeface="Consolas"/>
              </a:rPr>
              <a:t> </a:t>
            </a:r>
            <a:r>
              <a:rPr sz="950" b="0" i="0">
                <a:solidFill>
                  <a:srgbClr val="3F3F46"/>
                </a:solidFill>
                <a:latin typeface="Consolas"/>
              </a:rPr>
              <a:t> </a:t>
            </a:r>
            <a:r>
              <a:rPr sz="950" b="0" i="0">
                <a:solidFill>
                  <a:srgbClr val="18181B"/>
                </a:solidFill>
                <a:latin typeface="Consolas"/>
              </a:rPr>
              <a:t>feature_view_name</a:t>
            </a:r>
            <a:r>
              <a:rPr sz="950" b="0" i="0">
                <a:solidFill>
                  <a:srgbClr val="3F3F46"/>
                </a:solidFill>
                <a:latin typeface="Consolas"/>
              </a:rPr>
              <a:t>=</a:t>
            </a:r>
            <a:r>
              <a:rPr sz="950" b="0" i="0">
                <a:solidFill>
                  <a:srgbClr val="047857"/>
                </a:solidFill>
                <a:latin typeface="Consolas"/>
              </a:rPr>
              <a:t>"user_features"</a:t>
            </a:r>
            <a:r>
              <a:rPr sz="950" b="0" i="0">
                <a:solidFill>
                  <a:srgbClr val="3F3F46"/>
                </a:solidFill>
                <a:latin typeface="Consolas"/>
              </a:rPr>
              <a:t>,</a:t>
            </a:r>
          </a:p>
          <a:p>
            <a:pPr>
              <a:spcAft>
                <a:spcPts val="200"/>
              </a:spcAft>
            </a:pPr>
            <a:r>
              <a:rPr sz="950" b="0" i="0">
                <a:solidFill>
                  <a:srgbClr val="3F3F46"/>
                </a:solidFill>
                <a:latin typeface="Consolas"/>
              </a:rPr>
              <a:t> </a:t>
            </a:r>
            <a:r>
              <a:rPr sz="950" b="0" i="0">
                <a:solidFill>
                  <a:srgbClr val="3F3F46"/>
                </a:solidFill>
                <a:latin typeface="Consolas"/>
              </a:rPr>
              <a:t> </a:t>
            </a:r>
            <a:r>
              <a:rPr sz="950" b="0" i="0">
                <a:solidFill>
                  <a:srgbClr val="3F3F46"/>
                </a:solidFill>
                <a:latin typeface="Consolas"/>
              </a:rPr>
              <a:t> </a:t>
            </a:r>
            <a:r>
              <a:rPr sz="950" b="0" i="0">
                <a:solidFill>
                  <a:srgbClr val="3F3F46"/>
                </a:solidFill>
                <a:latin typeface="Consolas"/>
              </a:rPr>
              <a:t> </a:t>
            </a:r>
            <a:r>
              <a:rPr sz="950" b="0" i="0">
                <a:solidFill>
                  <a:srgbClr val="18181B"/>
                </a:solidFill>
                <a:latin typeface="Consolas"/>
              </a:rPr>
              <a:t>feature_online_store_id</a:t>
            </a:r>
            <a:r>
              <a:rPr sz="950" b="0" i="0">
                <a:solidFill>
                  <a:srgbClr val="3F3F46"/>
                </a:solidFill>
                <a:latin typeface="Consolas"/>
              </a:rPr>
              <a:t>=</a:t>
            </a:r>
            <a:r>
              <a:rPr sz="950" b="0" i="0">
                <a:solidFill>
                  <a:srgbClr val="047857"/>
                </a:solidFill>
                <a:latin typeface="Consolas"/>
              </a:rPr>
              <a:t>"user_online_store"</a:t>
            </a:r>
          </a:p>
          <a:p>
            <a:pPr>
              <a:spcAft>
                <a:spcPts val="200"/>
              </a:spcAft>
            </a:pPr>
            <a:r>
              <a:rPr sz="950" b="0" i="0">
                <a:solidFill>
                  <a:srgbClr val="3F3F46"/>
                </a:solidFill>
                <a:latin typeface="Consolas"/>
              </a:rPr>
              <a:t>)</a:t>
            </a:r>
          </a:p>
          <a:p>
            <a:pPr>
              <a:spcAft>
                <a:spcPts val="200"/>
              </a:spcAft>
            </a:pPr>
          </a:p>
          <a:p>
            <a:pPr>
              <a:spcAft>
                <a:spcPts val="200"/>
              </a:spcAft>
            </a:pPr>
            <a:r>
              <a:rPr sz="950" b="0" i="1">
                <a:solidFill>
                  <a:srgbClr val="71717A"/>
                </a:solidFill>
                <a:latin typeface="Consolas"/>
              </a:rPr>
              <a:t># Fetch real-time online feature values</a:t>
            </a:r>
          </a:p>
          <a:p>
            <a:pPr>
              <a:spcAft>
                <a:spcPts val="200"/>
              </a:spcAft>
            </a:pPr>
            <a:r>
              <a:rPr sz="950" b="0" i="0">
                <a:solidFill>
                  <a:srgbClr val="18181B"/>
                </a:solidFill>
                <a:latin typeface="Consolas"/>
              </a:rPr>
              <a:t>response</a:t>
            </a:r>
            <a:r>
              <a:rPr sz="950" b="0" i="0">
                <a:solidFill>
                  <a:srgbClr val="3F3F46"/>
                </a:solidFill>
                <a:latin typeface="Consolas"/>
              </a:rPr>
              <a:t> </a:t>
            </a:r>
            <a:r>
              <a:rPr sz="950" b="0" i="0">
                <a:solidFill>
                  <a:srgbClr val="3F3F46"/>
                </a:solidFill>
                <a:latin typeface="Consolas"/>
              </a:rPr>
              <a:t>=</a:t>
            </a:r>
            <a:r>
              <a:rPr sz="950" b="0" i="0">
                <a:solidFill>
                  <a:srgbClr val="3F3F46"/>
                </a:solidFill>
                <a:latin typeface="Consolas"/>
              </a:rPr>
              <a:t> </a:t>
            </a:r>
            <a:r>
              <a:rPr sz="950" b="0" i="0">
                <a:solidFill>
                  <a:srgbClr val="18181B"/>
                </a:solidFill>
                <a:latin typeface="Consolas"/>
              </a:rPr>
              <a:t>feature_view</a:t>
            </a:r>
            <a:r>
              <a:rPr sz="950" b="0" i="0">
                <a:solidFill>
                  <a:srgbClr val="3F3F46"/>
                </a:solidFill>
                <a:latin typeface="Consolas"/>
              </a:rPr>
              <a:t>.</a:t>
            </a:r>
            <a:r>
              <a:rPr sz="950" b="0" i="0">
                <a:solidFill>
                  <a:srgbClr val="18181B"/>
                </a:solidFill>
                <a:latin typeface="Consolas"/>
              </a:rPr>
              <a:t>read_feature_values</a:t>
            </a:r>
            <a:r>
              <a:rPr sz="950" b="0" i="0">
                <a:solidFill>
                  <a:srgbClr val="3F3F46"/>
                </a:solidFill>
                <a:latin typeface="Consolas"/>
              </a:rPr>
              <a:t>(</a:t>
            </a:r>
          </a:p>
          <a:p>
            <a:pPr>
              <a:spcAft>
                <a:spcPts val="200"/>
              </a:spcAft>
            </a:pPr>
            <a:r>
              <a:rPr sz="950" b="0" i="0">
                <a:solidFill>
                  <a:srgbClr val="3F3F46"/>
                </a:solidFill>
                <a:latin typeface="Consolas"/>
              </a:rPr>
              <a:t> </a:t>
            </a:r>
            <a:r>
              <a:rPr sz="950" b="0" i="0">
                <a:solidFill>
                  <a:srgbClr val="3F3F46"/>
                </a:solidFill>
                <a:latin typeface="Consolas"/>
              </a:rPr>
              <a:t> </a:t>
            </a:r>
            <a:r>
              <a:rPr sz="950" b="0" i="0">
                <a:solidFill>
                  <a:srgbClr val="3F3F46"/>
                </a:solidFill>
                <a:latin typeface="Consolas"/>
              </a:rPr>
              <a:t> </a:t>
            </a:r>
            <a:r>
              <a:rPr sz="950" b="0" i="0">
                <a:solidFill>
                  <a:srgbClr val="3F3F46"/>
                </a:solidFill>
                <a:latin typeface="Consolas"/>
              </a:rPr>
              <a:t> </a:t>
            </a:r>
            <a:r>
              <a:rPr sz="950" b="0" i="0">
                <a:solidFill>
                  <a:srgbClr val="18181B"/>
                </a:solidFill>
                <a:latin typeface="Consolas"/>
              </a:rPr>
              <a:t>entity_ids</a:t>
            </a:r>
            <a:r>
              <a:rPr sz="950" b="0" i="0">
                <a:solidFill>
                  <a:srgbClr val="3F3F46"/>
                </a:solidFill>
                <a:latin typeface="Consolas"/>
              </a:rPr>
              <a:t>=</a:t>
            </a:r>
            <a:r>
              <a:rPr sz="950" b="0" i="0">
                <a:solidFill>
                  <a:srgbClr val="3F3F46"/>
                </a:solidFill>
                <a:latin typeface="Consolas"/>
              </a:rPr>
              <a:t>[</a:t>
            </a:r>
            <a:r>
              <a:rPr sz="950" b="0" i="0">
                <a:solidFill>
                  <a:srgbClr val="047857"/>
                </a:solidFill>
                <a:latin typeface="Consolas"/>
              </a:rPr>
              <a:t>"user_10294"</a:t>
            </a:r>
            <a:r>
              <a:rPr sz="950" b="0" i="0">
                <a:solidFill>
                  <a:srgbClr val="3F3F46"/>
                </a:solidFill>
                <a:latin typeface="Consolas"/>
              </a:rPr>
              <a:t>]</a:t>
            </a:r>
          </a:p>
          <a:p>
            <a:pPr>
              <a:spcAft>
                <a:spcPts val="200"/>
              </a:spcAft>
            </a:pPr>
            <a:r>
              <a:rPr sz="950" b="0" i="0">
                <a:solidFill>
                  <a:srgbClr val="3F3F46"/>
                </a:solidFill>
                <a:latin typeface="Consolas"/>
              </a:rPr>
              <a:t>)</a:t>
            </a:r>
          </a:p>
          <a:p>
            <a:pPr>
              <a:spcAft>
                <a:spcPts val="200"/>
              </a:spcAft>
            </a:pPr>
            <a:r>
              <a:rPr sz="950" b="1" i="0">
                <a:solidFill>
                  <a:srgbClr val="BE185D"/>
                </a:solidFill>
                <a:latin typeface="Consolas"/>
              </a:rPr>
              <a:t>print</a:t>
            </a:r>
            <a:r>
              <a:rPr sz="950" b="0" i="0">
                <a:solidFill>
                  <a:srgbClr val="3F3F46"/>
                </a:solidFill>
                <a:latin typeface="Consolas"/>
              </a:rPr>
              <a:t>(</a:t>
            </a:r>
            <a:r>
              <a:rPr sz="950" b="0" i="0">
                <a:solidFill>
                  <a:srgbClr val="18181B"/>
                </a:solidFill>
                <a:latin typeface="Consolas"/>
              </a:rPr>
              <a:t>response</a:t>
            </a:r>
            <a:r>
              <a:rPr sz="950" b="0" i="0">
                <a:solidFill>
                  <a:srgbClr val="3F3F46"/>
                </a:solidFill>
                <a:latin typeface="Consolas"/>
              </a:rPr>
              <a:t>.</a:t>
            </a:r>
            <a:r>
              <a:rPr sz="950" b="0" i="0">
                <a:solidFill>
                  <a:srgbClr val="18181B"/>
                </a:solidFill>
                <a:latin typeface="Consolas"/>
              </a:rPr>
              <a:t>values</a:t>
            </a:r>
            <a:r>
              <a:rPr sz="950" b="0" i="0">
                <a:solidFill>
                  <a:srgbClr val="3F3F46"/>
                </a:solidFill>
                <a:latin typeface="Consolas"/>
              </a:rPr>
              <a:t>)</a:t>
            </a:r>
          </a:p>
        </p:txBody>
      </p:sp>
      <p:sp>
        <p:nvSpPr>
          <p:cNvPr id="6" name="Rectangle 5"/>
          <p:cNvSpPr/>
          <p:nvPr/>
        </p:nvSpPr>
        <p:spPr>
          <a:xfrm>
            <a:off x="731520" y="5029200"/>
            <a:ext cx="10725912" cy="109728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This Python query is integrated inside a web-serving Flask/FastAPI app to dynamically fetch driver ratings and enrich matching payloads before passing variables to model predictors.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OPERATIONS GUIDE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Google Cloud CLI (gcloud) Reference</a:t>
            </a:r>
          </a:p>
        </p:txBody>
      </p:sp>
      <p:sp>
        <p:nvSpPr>
          <p:cNvPr id="4" name="TextBox 3"/>
          <p:cNvSpPr txBox="1"/>
          <p:nvPr/>
        </p:nvSpPr>
        <p:spPr>
          <a:xfrm>
            <a:off x="731520" y="1280160"/>
            <a:ext cx="10698480" cy="365760"/>
          </a:xfrm>
          <a:prstGeom prst="rect">
            <a:avLst/>
          </a:prstGeom>
          <a:noFill/>
        </p:spPr>
        <p:txBody>
          <a:bodyPr wrap="none">
            <a:spAutoFit/>
          </a:bodyPr>
          <a:lstStyle/>
          <a:p>
            <a:r>
              <a:rPr sz="1300" b="0" i="0">
                <a:solidFill>
                  <a:srgbClr val="18181B"/>
                </a:solidFill>
                <a:latin typeface="Segoe UI"/>
              </a:rPr>
              <a:t>Managing Feature Store infrastructure using terminal commands:</a:t>
            </a:r>
          </a:p>
        </p:txBody>
      </p:sp>
      <p:sp>
        <p:nvSpPr>
          <p:cNvPr id="5" name="Rectangle 4"/>
          <p:cNvSpPr/>
          <p:nvPr/>
        </p:nvSpPr>
        <p:spPr>
          <a:xfrm>
            <a:off x="731520" y="1737360"/>
            <a:ext cx="10725912" cy="3108960"/>
          </a:xfrm>
          <a:prstGeom prst="rect">
            <a:avLst/>
          </a:prstGeom>
          <a:solidFill>
            <a:srgbClr val="F4F4F5"/>
          </a:solidFill>
          <a:ln w="1270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200"/>
              </a:spcAft>
            </a:pPr>
            <a:r>
              <a:rPr sz="950" b="0" i="1">
                <a:solidFill>
                  <a:srgbClr val="71717A"/>
                </a:solidFill>
                <a:latin typeface="Consolas"/>
              </a:rPr>
              <a:t># Create online store instance backed by Bigtable</a:t>
            </a:r>
          </a:p>
          <a:p>
            <a:pPr>
              <a:spcAft>
                <a:spcPts val="200"/>
              </a:spcAft>
            </a:pPr>
            <a:r>
              <a:rPr sz="950" b="0" i="0">
                <a:solidFill>
                  <a:srgbClr val="1D4ED8"/>
                </a:solidFill>
                <a:latin typeface="Consolas"/>
              </a:rPr>
              <a:t>gcloud </a:t>
            </a:r>
            <a:r>
              <a:rPr sz="950" b="0" i="0">
                <a:solidFill>
                  <a:srgbClr val="1D4ED8"/>
                </a:solidFill>
                <a:latin typeface="Consolas"/>
              </a:rPr>
              <a:t>vertex-ai </a:t>
            </a:r>
            <a:r>
              <a:rPr sz="950" b="0" i="0">
                <a:solidFill>
                  <a:srgbClr val="18181B"/>
                </a:solidFill>
                <a:latin typeface="Consolas"/>
              </a:rPr>
              <a:t>feature-online-stores </a:t>
            </a:r>
            <a:r>
              <a:rPr sz="950" b="0" i="0">
                <a:solidFill>
                  <a:srgbClr val="1D4ED8"/>
                </a:solidFill>
                <a:latin typeface="Consolas"/>
              </a:rPr>
              <a:t>create </a:t>
            </a:r>
            <a:r>
              <a:rPr sz="950" b="0" i="0">
                <a:solidFill>
                  <a:srgbClr val="18181B"/>
                </a:solidFill>
                <a:latin typeface="Consolas"/>
              </a:rPr>
              <a:t>user-online-store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BE185D"/>
                </a:solidFill>
                <a:latin typeface="Consolas"/>
              </a:rPr>
              <a:t>--region=us-central1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BE185D"/>
                </a:solidFill>
                <a:latin typeface="Consolas"/>
              </a:rPr>
              <a:t>--bigtable-min-node-count=1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BE185D"/>
                </a:solidFill>
                <a:latin typeface="Consolas"/>
              </a:rPr>
              <a:t>--bigtable-max-node-count=5</a:t>
            </a:r>
          </a:p>
          <a:p>
            <a:pPr>
              <a:spcAft>
                <a:spcPts val="200"/>
              </a:spcAft>
            </a:pPr>
            <a:r>
              <a:rPr sz="950" b="0" i="0">
                <a:solidFill>
                  <a:srgbClr val="18181B"/>
                </a:solidFill>
                <a:latin typeface="Consolas"/>
              </a:rPr>
              <a:t/>
            </a:r>
          </a:p>
          <a:p>
            <a:pPr>
              <a:spcAft>
                <a:spcPts val="200"/>
              </a:spcAft>
            </a:pPr>
            <a:r>
              <a:rPr sz="950" b="0" i="1">
                <a:solidFill>
                  <a:srgbClr val="71717A"/>
                </a:solidFill>
                <a:latin typeface="Consolas"/>
              </a:rPr>
              <a:t># Synchronize feature view with BigQuery source data</a:t>
            </a:r>
          </a:p>
          <a:p>
            <a:pPr>
              <a:spcAft>
                <a:spcPts val="200"/>
              </a:spcAft>
            </a:pPr>
            <a:r>
              <a:rPr sz="950" b="0" i="0">
                <a:solidFill>
                  <a:srgbClr val="1D4ED8"/>
                </a:solidFill>
                <a:latin typeface="Consolas"/>
              </a:rPr>
              <a:t>gcloud </a:t>
            </a:r>
            <a:r>
              <a:rPr sz="950" b="0" i="0">
                <a:solidFill>
                  <a:srgbClr val="1D4ED8"/>
                </a:solidFill>
                <a:latin typeface="Consolas"/>
              </a:rPr>
              <a:t>vertex-ai </a:t>
            </a:r>
            <a:r>
              <a:rPr sz="950" b="0" i="0">
                <a:solidFill>
                  <a:srgbClr val="18181B"/>
                </a:solidFill>
                <a:latin typeface="Consolas"/>
              </a:rPr>
              <a:t>feature-views </a:t>
            </a:r>
            <a:r>
              <a:rPr sz="950" b="0" i="0">
                <a:solidFill>
                  <a:srgbClr val="1D4ED8"/>
                </a:solidFill>
                <a:latin typeface="Consolas"/>
              </a:rPr>
              <a:t>sync </a:t>
            </a:r>
            <a:r>
              <a:rPr sz="950" b="0" i="0">
                <a:solidFill>
                  <a:srgbClr val="18181B"/>
                </a:solidFill>
                <a:latin typeface="Consolas"/>
              </a:rPr>
              <a:t>user-features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BE185D"/>
                </a:solidFill>
                <a:latin typeface="Consolas"/>
              </a:rPr>
              <a:t>--feature-online-store=user-online-store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18181B"/>
                </a:solidFill>
                <a:latin typeface="Consolas"/>
              </a:rPr>
              <a:t> </a:t>
            </a:r>
            <a:r>
              <a:rPr sz="950" b="0" i="0">
                <a:solidFill>
                  <a:srgbClr val="BE185D"/>
                </a:solidFill>
                <a:latin typeface="Consolas"/>
              </a:rPr>
              <a:t>--region=us-central1</a:t>
            </a:r>
          </a:p>
        </p:txBody>
      </p:sp>
      <p:sp>
        <p:nvSpPr>
          <p:cNvPr id="6" name="Rectangle 5"/>
          <p:cNvSpPr/>
          <p:nvPr/>
        </p:nvSpPr>
        <p:spPr>
          <a:xfrm>
            <a:off x="731520" y="5029200"/>
            <a:ext cx="10725912" cy="109728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MLOps engineers run these gcloud scripts inside Cloud Build templates to automatically create and update feature registries when new schemas are merged into main branches.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MLOPS MONITORING</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Model Monitoring Integration</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Continuous Skew Checks: </a:t>
            </a:r>
            <a:r>
              <a:rPr sz="1250" b="0" i="0">
                <a:solidFill>
                  <a:srgbClr val="3F3F46"/>
                </a:solidFill>
                <a:latin typeface="Segoe UI"/>
              </a:rPr>
              <a:t>Automated alerts if serving feature distributions drift from baseline training datasets (TFRecord profiles).</a:t>
            </a:r>
          </a:p>
          <a:p>
            <a:pPr>
              <a:spcAft>
                <a:spcPts val="1200"/>
              </a:spcAft>
            </a:pPr>
            <a:r>
              <a:rPr sz="1300" b="1" i="0">
                <a:solidFill>
                  <a:srgbClr val="1D4ED8"/>
                </a:solidFill>
                <a:latin typeface="Segoe UI"/>
              </a:rPr>
              <a:t>→  </a:t>
            </a:r>
            <a:r>
              <a:rPr sz="1250" b="1" i="0">
                <a:solidFill>
                  <a:srgbClr val="18181B"/>
                </a:solidFill>
                <a:latin typeface="Segoe UI"/>
              </a:rPr>
              <a:t>PSI Metric: </a:t>
            </a:r>
            <a:r>
              <a:rPr sz="1250" b="0" i="0">
                <a:solidFill>
                  <a:srgbClr val="3F3F46"/>
                </a:solidFill>
                <a:latin typeface="Segoe UI"/>
              </a:rPr>
              <a:t>Model Monitoring calculates Population Stability Index. If PSI exceeds 0.20, alerts notify engineering teams.</a:t>
            </a:r>
          </a:p>
          <a:p>
            <a:pPr>
              <a:spcAft>
                <a:spcPts val="1200"/>
              </a:spcAft>
            </a:pPr>
            <a:r>
              <a:rPr sz="1300" b="1" i="0">
                <a:solidFill>
                  <a:srgbClr val="1D4ED8"/>
                </a:solidFill>
                <a:latin typeface="Segoe UI"/>
              </a:rPr>
              <a:t>→  </a:t>
            </a:r>
            <a:r>
              <a:rPr sz="1250" b="1" i="0">
                <a:solidFill>
                  <a:srgbClr val="18181B"/>
                </a:solidFill>
                <a:latin typeface="Segoe UI"/>
              </a:rPr>
              <a:t>Automated Retraining: </a:t>
            </a:r>
            <a:r>
              <a:rPr sz="1250" b="0" i="0">
                <a:solidFill>
                  <a:srgbClr val="3F3F46"/>
                </a:solidFill>
                <a:latin typeface="Segoe UI"/>
              </a:rPr>
              <a:t>Integration with Pub/Sub allows alerting systems to launch retraining DAGs automatically.</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Monitoring user age distributions. Baseline training mean was 24. Shifted average in serving hits 42 (PSI = 0.28). System alerts trigger an automated retraining pipeline.</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MLOps Operations Loop</a:t>
            </a:r>
          </a:p>
          <a:p>
            <a:r>
              <a:rPr sz="1150" b="0" i="0">
                <a:solidFill>
                  <a:srgbClr val="3F3F46"/>
                </a:solidFill>
                <a:latin typeface="Segoe UI"/>
              </a:rPr>
              <a:t>Unifying features within the Feature Store ensures the baseline reference schemas remain identical, eliminating manual calculations during drift checks.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SECURITY &amp; GOVERNANCE</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IAM Permissions &amp; Access Controls</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roles/aiplatform.admin: </a:t>
            </a:r>
            <a:r>
              <a:rPr sz="1250" b="0" i="0">
                <a:solidFill>
                  <a:srgbClr val="3F3F46"/>
                </a:solidFill>
                <a:latin typeface="Segoe UI"/>
              </a:rPr>
              <a:t>Grants full control over Feature Store creation, schema modification, and resource deletions.</a:t>
            </a:r>
          </a:p>
          <a:p>
            <a:pPr>
              <a:spcAft>
                <a:spcPts val="1200"/>
              </a:spcAft>
            </a:pPr>
            <a:r>
              <a:rPr sz="1300" b="1" i="0">
                <a:solidFill>
                  <a:srgbClr val="1D4ED8"/>
                </a:solidFill>
                <a:latin typeface="Segoe UI"/>
              </a:rPr>
              <a:t>→  </a:t>
            </a:r>
            <a:r>
              <a:rPr sz="1250" b="1" i="0">
                <a:solidFill>
                  <a:srgbClr val="18181B"/>
                </a:solidFill>
                <a:latin typeface="Segoe UI"/>
              </a:rPr>
              <a:t>roles/aiplatform.user: </a:t>
            </a:r>
            <a:r>
              <a:rPr sz="1250" b="0" i="0">
                <a:solidFill>
                  <a:srgbClr val="3F3F46"/>
                </a:solidFill>
                <a:latin typeface="Segoe UI"/>
              </a:rPr>
              <a:t>Allows listing, searching, reading, and exporting feature values. Default role for ML engineers and clients.</a:t>
            </a:r>
          </a:p>
          <a:p>
            <a:pPr>
              <a:spcAft>
                <a:spcPts val="1200"/>
              </a:spcAft>
            </a:pPr>
            <a:r>
              <a:rPr sz="1300" b="1" i="0">
                <a:solidFill>
                  <a:srgbClr val="1D4ED8"/>
                </a:solidFill>
                <a:latin typeface="Segoe UI"/>
              </a:rPr>
              <a:t>→  </a:t>
            </a:r>
            <a:r>
              <a:rPr sz="1250" b="1" i="0">
                <a:solidFill>
                  <a:srgbClr val="18181B"/>
                </a:solidFill>
                <a:latin typeface="Segoe UI"/>
              </a:rPr>
              <a:t>VPC Service Controls: </a:t>
            </a:r>
            <a:r>
              <a:rPr sz="1250" b="0" i="0">
                <a:solidFill>
                  <a:srgbClr val="3F3F46"/>
                </a:solidFill>
                <a:latin typeface="Segoe UI"/>
              </a:rPr>
              <a:t>Lock Feature Store endpoints inside a private security boundary, protecting datasets from exfiltration.</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The online prediction container's service account is granted the aiplatform.user role, enabling it to query features on port 8080 while blocking write configurations.</a:t>
            </a:r>
          </a:p>
        </p:txBody>
      </p:sp>
      <p:sp>
        <p:nvSpPr>
          <p:cNvPr id="6" name="Rounded Rectangle 5"/>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Security Rule</a:t>
            </a:r>
          </a:p>
          <a:p>
            <a:r>
              <a:rPr sz="1150" b="0" i="0">
                <a:solidFill>
                  <a:srgbClr val="3F3F46"/>
                </a:solidFill>
                <a:latin typeface="Segoe UI"/>
              </a:rPr>
              <a:t>Service accounts attached to prediction serving containers must possess the roles/aiplatform.user role to successfully pull online features on port 8080.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TAKEAWAYS</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Architect's Checklist</a:t>
            </a:r>
          </a:p>
        </p:txBody>
      </p:sp>
      <p:sp>
        <p:nvSpPr>
          <p:cNvPr id="4" name="TextBox 3"/>
          <p:cNvSpPr txBox="1"/>
          <p:nvPr/>
        </p:nvSpPr>
        <p:spPr>
          <a:xfrm>
            <a:off x="731520" y="1645920"/>
            <a:ext cx="6217920" cy="2926080"/>
          </a:xfrm>
          <a:prstGeom prst="rect">
            <a:avLst/>
          </a:prstGeom>
          <a:noFill/>
        </p:spPr>
        <p:txBody>
          <a:bodyPr wrap="square" lIns="0" rIns="0" tIns="0" bIns="0">
            <a:spAutoFit/>
          </a:bodyPr>
          <a:lstStyle/>
          <a:p>
            <a:pPr>
              <a:spcAft>
                <a:spcPts val="1200"/>
              </a:spcAft>
            </a:pPr>
            <a:r>
              <a:rPr sz="1300" b="1" i="0">
                <a:solidFill>
                  <a:srgbClr val="1D4ED8"/>
                </a:solidFill>
                <a:latin typeface="Segoe UI"/>
              </a:rPr>
              <a:t>→  </a:t>
            </a:r>
            <a:r>
              <a:rPr sz="1250" b="1" i="0">
                <a:solidFill>
                  <a:srgbClr val="18181B"/>
                </a:solidFill>
                <a:latin typeface="Segoe UI"/>
              </a:rPr>
              <a:t>Train-Serve Skew: </a:t>
            </a:r>
            <a:r>
              <a:rPr sz="1250" b="0" i="0">
                <a:solidFill>
                  <a:srgbClr val="3F3F46"/>
                </a:solidFill>
                <a:latin typeface="Segoe UI"/>
              </a:rPr>
              <a:t>Eliminate skew by serving and training from the same Feature Store views.</a:t>
            </a:r>
          </a:p>
          <a:p>
            <a:pPr>
              <a:spcAft>
                <a:spcPts val="1200"/>
              </a:spcAft>
            </a:pPr>
            <a:r>
              <a:rPr sz="1300" b="1" i="0">
                <a:solidFill>
                  <a:srgbClr val="1D4ED8"/>
                </a:solidFill>
                <a:latin typeface="Segoe UI"/>
              </a:rPr>
              <a:t>→  </a:t>
            </a:r>
            <a:r>
              <a:rPr sz="1250" b="1" i="0">
                <a:solidFill>
                  <a:srgbClr val="18181B"/>
                </a:solidFill>
                <a:latin typeface="Segoe UI"/>
              </a:rPr>
              <a:t>Data Leakage: </a:t>
            </a:r>
            <a:r>
              <a:rPr sz="1250" b="0" i="0">
                <a:solidFill>
                  <a:srgbClr val="3F3F46"/>
                </a:solidFill>
                <a:latin typeface="Segoe UI"/>
              </a:rPr>
              <a:t>Eliminate leakage by deploying point-in-time snapshot joins.</a:t>
            </a:r>
          </a:p>
          <a:p>
            <a:pPr>
              <a:spcAft>
                <a:spcPts val="1200"/>
              </a:spcAft>
            </a:pPr>
            <a:r>
              <a:rPr sz="1300" b="1" i="0">
                <a:solidFill>
                  <a:srgbClr val="1D4ED8"/>
                </a:solidFill>
                <a:latin typeface="Segoe UI"/>
              </a:rPr>
              <a:t>→  </a:t>
            </a:r>
            <a:r>
              <a:rPr sz="1250" b="1" i="0">
                <a:solidFill>
                  <a:srgbClr val="18181B"/>
                </a:solidFill>
                <a:latin typeface="Segoe UI"/>
              </a:rPr>
              <a:t>Online Store: </a:t>
            </a:r>
            <a:r>
              <a:rPr sz="1250" b="0" i="0">
                <a:solidFill>
                  <a:srgbClr val="3F3F46"/>
                </a:solidFill>
                <a:latin typeface="Segoe UI"/>
              </a:rPr>
              <a:t>Backed by Bigtable for sub-15ms serving latencies.</a:t>
            </a:r>
          </a:p>
          <a:p>
            <a:pPr>
              <a:spcAft>
                <a:spcPts val="1200"/>
              </a:spcAft>
            </a:pPr>
            <a:r>
              <a:rPr sz="1300" b="1" i="0">
                <a:solidFill>
                  <a:srgbClr val="1D4ED8"/>
                </a:solidFill>
                <a:latin typeface="Segoe UI"/>
              </a:rPr>
              <a:t>→  </a:t>
            </a:r>
            <a:r>
              <a:rPr sz="1250" b="1" i="0">
                <a:solidFill>
                  <a:srgbClr val="18181B"/>
                </a:solidFill>
                <a:latin typeface="Segoe UI"/>
              </a:rPr>
              <a:t>Offline Store: </a:t>
            </a:r>
            <a:r>
              <a:rPr sz="1250" b="0" i="0">
                <a:solidFill>
                  <a:srgbClr val="3F3F46"/>
                </a:solidFill>
                <a:latin typeface="Segoe UI"/>
              </a:rPr>
              <a:t>Integrates with BigQuery for large analytical dataset creation.</a:t>
            </a:r>
          </a:p>
        </p:txBody>
      </p:sp>
      <p:sp>
        <p:nvSpPr>
          <p:cNvPr id="5" name="Rectangle 4"/>
          <p:cNvSpPr/>
          <p:nvPr/>
        </p:nvSpPr>
        <p:spPr>
          <a:xfrm>
            <a:off x="731520" y="4754880"/>
            <a:ext cx="6217920" cy="1371600"/>
          </a:xfrm>
          <a:prstGeom prst="rect">
            <a:avLst/>
          </a:prstGeom>
          <a:solidFill>
            <a:srgbClr val="F4F4F5"/>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ctr">
              <a:spcAft>
                <a:spcPts val="300"/>
              </a:spcAft>
            </a:pPr>
            <a:r>
              <a:rPr sz="950" b="1" i="0">
                <a:solidFill>
                  <a:srgbClr val="1D4ED8"/>
                </a:solidFill>
                <a:latin typeface="Segoe UI"/>
              </a:rPr>
              <a:t>REAL-WORLD EXAMPLE</a:t>
            </a:r>
          </a:p>
          <a:p>
            <a:r>
              <a:rPr sz="1000" b="0" i="1">
                <a:solidFill>
                  <a:srgbClr val="3F3F46"/>
                </a:solidFill>
                <a:latin typeface="Segoe UI"/>
              </a:rPr>
              <a:t>On the exam, if they request sub-10ms serving, historical data timelines, or data quality assurances for tabular features, Vertex AI Feature Store is the correct answer.</a:t>
            </a:r>
          </a:p>
        </p:txBody>
      </p:sp>
      <p:sp>
        <p:nvSpPr>
          <p:cNvPr id="6" name="Rounded Rectangle 5"/>
          <p:cNvSpPr/>
          <p:nvPr/>
        </p:nvSpPr>
        <p:spPr>
          <a:xfrm>
            <a:off x="7315200" y="1645920"/>
            <a:ext cx="4114800" cy="4480560"/>
          </a:xfrm>
          <a:prstGeom prst="roundRect">
            <a:avLst/>
          </a:prstGeom>
          <a:solidFill>
            <a:srgbClr val="FFFFFF"/>
          </a:solidFill>
          <a:ln w="1524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Exam Tip</a:t>
            </a:r>
          </a:p>
          <a:p>
            <a:r>
              <a:rPr sz="1150" b="0" i="0">
                <a:solidFill>
                  <a:srgbClr val="3F3F46"/>
                </a:solidFill>
                <a:latin typeface="Segoe UI"/>
              </a:rPr>
              <a:t>If a scenario requires real-time serving latency, user sharing, or data leakage protection, **Vertex AI Feature Store** is always the correct GCP ML solution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1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Minimizing Online Serving Latency</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 financial company is deploying an online transaction fraud detection model on Vertex AI. The model needs to retrieve customer feature values (e.g., transaction frequency in the last 10 minutes) with sub-10ms latency during prediction queries. How should the architecture be designed using Vertex AI Feature Store?</a:t>
            </a:r>
          </a:p>
          <a:p>
            <a:pPr>
              <a:spcAft>
                <a:spcPts val="800"/>
              </a:spcAft>
            </a:pPr>
            <a:r>
              <a:rPr sz="1100" b="1" i="0">
                <a:solidFill>
                  <a:srgbClr val="1D4ED8"/>
                </a:solidFill>
                <a:latin typeface="Segoe UI"/>
              </a:rPr>
              <a:t>A.  </a:t>
            </a:r>
            <a:r>
              <a:rPr sz="1100" b="0" i="0">
                <a:solidFill>
                  <a:srgbClr val="3F3F46"/>
                </a:solidFill>
                <a:latin typeface="Segoe UI"/>
              </a:rPr>
              <a:t>Configure offline serving batch exports to sync historical data to Cloud Storage and serve them directly from custom GKE nodes.</a:t>
            </a:r>
          </a:p>
          <a:p>
            <a:pPr>
              <a:spcAft>
                <a:spcPts val="800"/>
              </a:spcAft>
            </a:pPr>
            <a:r>
              <a:rPr sz="1100" b="1" i="0">
                <a:solidFill>
                  <a:srgbClr val="1D4ED8"/>
                </a:solidFill>
                <a:latin typeface="Segoe UI"/>
              </a:rPr>
              <a:t>B.  </a:t>
            </a:r>
            <a:r>
              <a:rPr sz="1100" b="0" i="0">
                <a:solidFill>
                  <a:srgbClr val="3F3F46"/>
                </a:solidFill>
                <a:latin typeface="Segoe UI"/>
              </a:rPr>
              <a:t>Set up a Feature Group pointing to BigQuery, register Feature Views, and enable Online Serving using Bigtable as the online store database.</a:t>
            </a:r>
          </a:p>
          <a:p>
            <a:pPr>
              <a:spcAft>
                <a:spcPts val="800"/>
              </a:spcAft>
            </a:pPr>
            <a:r>
              <a:rPr sz="1100" b="1" i="0">
                <a:solidFill>
                  <a:srgbClr val="1D4ED8"/>
                </a:solidFill>
                <a:latin typeface="Segoe UI"/>
              </a:rPr>
              <a:t>C.  </a:t>
            </a:r>
            <a:r>
              <a:rPr sz="1100" b="0" i="0">
                <a:solidFill>
                  <a:srgbClr val="3F3F46"/>
                </a:solidFill>
                <a:latin typeface="Segoe UI"/>
              </a:rPr>
              <a:t>Query BigQuery ML models directly using standard SQL procedures from GCF functions.</a:t>
            </a:r>
          </a:p>
          <a:p>
            <a:pPr>
              <a:spcAft>
                <a:spcPts val="800"/>
              </a:spcAft>
            </a:pPr>
            <a:r>
              <a:rPr sz="1100" b="1" i="0">
                <a:solidFill>
                  <a:srgbClr val="1D4ED8"/>
                </a:solidFill>
                <a:latin typeface="Segoe UI"/>
              </a:rPr>
              <a:t>D.  </a:t>
            </a:r>
            <a:r>
              <a:rPr sz="1100" b="0" i="0">
                <a:solidFill>
                  <a:srgbClr val="3F3F46"/>
                </a:solidFill>
                <a:latin typeface="Segoe UI"/>
              </a:rPr>
              <a:t>Use Memorystore for Redis manually and write Spark Streaming ETL scripts to populate user features from GCS.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Under the latest BigQuery-centric Feature Store architecture, developers create a Feature Group mapping BigQuery views, then create a Feature View and provision an online store database instance (backed by optimized Cloud Bigtable or Redis) for sub-10ms gRPC read requests.</a:t>
            </a:r>
          </a:p>
          <a:p>
            <a:r>
              <a:rPr sz="950" b="0" i="1">
                <a:solidFill>
                  <a:srgbClr val="71717A"/>
                </a:solidFill>
                <a:latin typeface="Segoe UI"/>
              </a:rPr>
              <a:t>GCP Reference: https://cloud.google.com/vertex-ai/docs/featurestore/latest/read-feature-values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2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Data Leakage Prevention</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An ML engineer is building a pipeline to retrain a customer recommendation model. The training dataset combines user profile features from a feature store with historical purchase event logs. How can the engineer prevent data leakage during training set generation?</a:t>
            </a:r>
          </a:p>
          <a:p>
            <a:pPr>
              <a:spcAft>
                <a:spcPts val="800"/>
              </a:spcAft>
            </a:pPr>
            <a:r>
              <a:rPr sz="1100" b="1" i="0">
                <a:solidFill>
                  <a:srgbClr val="1D4ED8"/>
                </a:solidFill>
                <a:latin typeface="Segoe UI"/>
              </a:rPr>
              <a:t>A.  </a:t>
            </a:r>
            <a:r>
              <a:rPr sz="1100" b="0" i="0">
                <a:solidFill>
                  <a:srgbClr val="3F3F46"/>
                </a:solidFill>
                <a:latin typeface="Segoe UI"/>
              </a:rPr>
              <a:t>Perform standard SQL inner joins in BigQuery without specifying event times, relying on manual date filters.</a:t>
            </a:r>
          </a:p>
          <a:p>
            <a:pPr>
              <a:spcAft>
                <a:spcPts val="800"/>
              </a:spcAft>
            </a:pPr>
            <a:r>
              <a:rPr sz="1100" b="1" i="0">
                <a:solidFill>
                  <a:srgbClr val="1D4ED8"/>
                </a:solidFill>
                <a:latin typeface="Segoe UI"/>
              </a:rPr>
              <a:t>B.  </a:t>
            </a:r>
            <a:r>
              <a:rPr sz="1100" b="0" i="0">
                <a:solidFill>
                  <a:srgbClr val="3F3F46"/>
                </a:solidFill>
                <a:latin typeface="Segoe UI"/>
              </a:rPr>
              <a:t>Read the latest active feature states from the online database at the time of running the training job.</a:t>
            </a:r>
          </a:p>
          <a:p>
            <a:pPr>
              <a:spcAft>
                <a:spcPts val="800"/>
              </a:spcAft>
            </a:pPr>
            <a:r>
              <a:rPr sz="1100" b="1" i="0">
                <a:solidFill>
                  <a:srgbClr val="1D4ED8"/>
                </a:solidFill>
                <a:latin typeface="Segoe UI"/>
              </a:rPr>
              <a:t>C.  </a:t>
            </a:r>
            <a:r>
              <a:rPr sz="1100" b="0" i="0">
                <a:solidFill>
                  <a:srgbClr val="3F3F46"/>
                </a:solidFill>
                <a:latin typeface="Segoe UI"/>
              </a:rPr>
              <a:t>Execute point-in-time joins using Feature Store offline serving, specifying the historical event timestamps to extract features as they existed at each event time.</a:t>
            </a:r>
          </a:p>
          <a:p>
            <a:pPr>
              <a:spcAft>
                <a:spcPts val="800"/>
              </a:spcAft>
            </a:pPr>
            <a:r>
              <a:rPr sz="1100" b="1" i="0">
                <a:solidFill>
                  <a:srgbClr val="1D4ED8"/>
                </a:solidFill>
                <a:latin typeface="Segoe UI"/>
              </a:rPr>
              <a:t>D.  </a:t>
            </a:r>
            <a:r>
              <a:rPr sz="1100" b="0" i="0">
                <a:solidFill>
                  <a:srgbClr val="3F3F46"/>
                </a:solidFill>
                <a:latin typeface="Segoe UI"/>
              </a:rPr>
              <a:t>Set up a daily batch cron job that overwrites all user profile values inside a single GCS export bucket.</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C</a:t>
            </a:r>
          </a:p>
          <a:p>
            <a:pPr>
              <a:spcAft>
                <a:spcPts val="1400"/>
              </a:spcAft>
            </a:pPr>
            <a:r>
              <a:rPr sz="1100" b="0" i="0">
                <a:solidFill>
                  <a:srgbClr val="3F3F46"/>
                </a:solidFill>
                <a:latin typeface="Segoe UI"/>
              </a:rPr>
              <a:t>Explanation: Point-in-time joins (or historical joins) are the standard solution to prevent data leakage during training data export. By joining features at the exact historical timestamp of the target label event, the system ensures that no 'future data' is fed into the model.</a:t>
            </a:r>
          </a:p>
          <a:p>
            <a:r>
              <a:rPr sz="950" b="0" i="1">
                <a:solidFill>
                  <a:srgbClr val="71717A"/>
                </a:solidFill>
                <a:latin typeface="Segoe UI"/>
              </a:rPr>
              <a:t>GCP Reference: https://cloud.google.com/vertex-ai/docs/featurestore/legacy/explain-pit-join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3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Eliminating Train-Serve Skew</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 retail company runs a model to predict user conversion rates. The training features are preprocessed in batch using SQL in BigQuery, while the online serving application computes features using custom Python code. The model performs poorly in production due to train-serve skew. How can Vertex AI Feature Store resolve this?</a:t>
            </a:r>
          </a:p>
          <a:p>
            <a:pPr>
              <a:spcAft>
                <a:spcPts val="800"/>
              </a:spcAft>
            </a:pPr>
            <a:r>
              <a:rPr sz="1100" b="1" i="0">
                <a:solidFill>
                  <a:srgbClr val="1D4ED8"/>
                </a:solidFill>
                <a:latin typeface="Segoe UI"/>
              </a:rPr>
              <a:t>A.  </a:t>
            </a:r>
            <a:r>
              <a:rPr sz="1100" b="0" i="0">
                <a:solidFill>
                  <a:srgbClr val="3F3F46"/>
                </a:solidFill>
                <a:latin typeface="Segoe UI"/>
              </a:rPr>
              <a:t>Define the preprocessing transformations in BigQuery views, register them as a Feature Group, and serve both training and prediction requests from the same Feature Store views.</a:t>
            </a:r>
          </a:p>
          <a:p>
            <a:pPr>
              <a:spcAft>
                <a:spcPts val="800"/>
              </a:spcAft>
            </a:pPr>
            <a:r>
              <a:rPr sz="1100" b="1" i="0">
                <a:solidFill>
                  <a:srgbClr val="1D4ED8"/>
                </a:solidFill>
                <a:latin typeface="Segoe UI"/>
              </a:rPr>
              <a:t>B.  </a:t>
            </a:r>
            <a:r>
              <a:rPr sz="1100" b="0" i="0">
                <a:solidFill>
                  <a:srgbClr val="3F3F46"/>
                </a:solidFill>
                <a:latin typeface="Segoe UI"/>
              </a:rPr>
              <a:t>Standardize all preprocessing by rewriting the transformations directly inside the GKE API container.</a:t>
            </a:r>
          </a:p>
          <a:p>
            <a:pPr>
              <a:spcAft>
                <a:spcPts val="800"/>
              </a:spcAft>
            </a:pPr>
            <a:r>
              <a:rPr sz="1100" b="1" i="0">
                <a:solidFill>
                  <a:srgbClr val="1D4ED8"/>
                </a:solidFill>
                <a:latin typeface="Segoe UI"/>
              </a:rPr>
              <a:t>C.  </a:t>
            </a:r>
            <a:r>
              <a:rPr sz="1100" b="0" i="0">
                <a:solidFill>
                  <a:srgbClr val="3F3F46"/>
                </a:solidFill>
                <a:latin typeface="Segoe UI"/>
              </a:rPr>
              <a:t>Deploy a second BigQuery instance dedicated to serving online queries in real-time.</a:t>
            </a:r>
          </a:p>
          <a:p>
            <a:pPr>
              <a:spcAft>
                <a:spcPts val="800"/>
              </a:spcAft>
            </a:pPr>
            <a:r>
              <a:rPr sz="1100" b="1" i="0">
                <a:solidFill>
                  <a:srgbClr val="1D4ED8"/>
                </a:solidFill>
                <a:latin typeface="Segoe UI"/>
              </a:rPr>
              <a:t>D.  </a:t>
            </a:r>
            <a:r>
              <a:rPr sz="1100" b="0" i="0">
                <a:solidFill>
                  <a:srgbClr val="3F3F46"/>
                </a:solidFill>
                <a:latin typeface="Segoe UI"/>
              </a:rPr>
              <a:t>Use AutoML Tabular to automatically search for features during serving queries.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A</a:t>
            </a:r>
          </a:p>
          <a:p>
            <a:pPr>
              <a:spcAft>
                <a:spcPts val="1400"/>
              </a:spcAft>
            </a:pPr>
            <a:r>
              <a:rPr sz="1100" b="0" i="0">
                <a:solidFill>
                  <a:srgbClr val="3F3F46"/>
                </a:solidFill>
                <a:latin typeface="Segoe UI"/>
              </a:rPr>
              <a:t>Explanation: To eliminate train-serve skew, both training pipelines (offline serving) and inference APIs (online serving) must fetch from a single source of feature definitions. Registering the preprocessing views in a centralized Feature Store accomplishes this.</a:t>
            </a:r>
          </a:p>
          <a:p>
            <a:r>
              <a:rPr sz="950" b="0" i="1">
                <a:solidFill>
                  <a:srgbClr val="71717A"/>
                </a:solidFill>
                <a:latin typeface="Segoe UI"/>
              </a:rPr>
              <a:t>GCP Reference: https://cloud.google.com/vertex-ai/docs/featurestore/latest/overview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4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Cost &amp; Storage Optimization</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Multiple data science teams at an enterprise recalculate overlapping customer features (such as `monthly_average_spend`). This leads to redundant storage costs and processing fees. What is the best practice to optimize these costs?</a:t>
            </a:r>
          </a:p>
          <a:p>
            <a:pPr>
              <a:spcAft>
                <a:spcPts val="800"/>
              </a:spcAft>
            </a:pPr>
            <a:r>
              <a:rPr sz="1100" b="1" i="0">
                <a:solidFill>
                  <a:srgbClr val="1D4ED8"/>
                </a:solidFill>
                <a:latin typeface="Segoe UI"/>
              </a:rPr>
              <a:t>A.  </a:t>
            </a:r>
            <a:r>
              <a:rPr sz="1100" b="0" i="0">
                <a:solidFill>
                  <a:srgbClr val="3F3F46"/>
                </a:solidFill>
                <a:latin typeface="Segoe UI"/>
              </a:rPr>
              <a:t>Request the finance team to enforce resource quotas on all GCS buckets and limit active BigQuery projects.</a:t>
            </a:r>
          </a:p>
          <a:p>
            <a:pPr>
              <a:spcAft>
                <a:spcPts val="800"/>
              </a:spcAft>
            </a:pPr>
            <a:r>
              <a:rPr sz="1100" b="1" i="0">
                <a:solidFill>
                  <a:srgbClr val="1D4ED8"/>
                </a:solidFill>
                <a:latin typeface="Segoe UI"/>
              </a:rPr>
              <a:t>B.  </a:t>
            </a:r>
            <a:r>
              <a:rPr sz="1100" b="0" i="0">
                <a:solidFill>
                  <a:srgbClr val="3F3F46"/>
                </a:solidFill>
                <a:latin typeface="Segoe UI"/>
              </a:rPr>
              <a:t>Build a custom metadata registry using Cloud SQL to track who owns which Python scripting files.</a:t>
            </a:r>
          </a:p>
          <a:p>
            <a:pPr>
              <a:spcAft>
                <a:spcPts val="800"/>
              </a:spcAft>
            </a:pPr>
            <a:r>
              <a:rPr sz="1100" b="1" i="0">
                <a:solidFill>
                  <a:srgbClr val="1D4ED8"/>
                </a:solidFill>
                <a:latin typeface="Segoe UI"/>
              </a:rPr>
              <a:t>C.  </a:t>
            </a:r>
            <a:r>
              <a:rPr sz="1100" b="0" i="0">
                <a:solidFill>
                  <a:srgbClr val="3F3F46"/>
                </a:solidFill>
                <a:latin typeface="Segoe UI"/>
              </a:rPr>
              <a:t>Export all datasets to local development servers to avoid Google Cloud analytical query costs.</a:t>
            </a:r>
          </a:p>
          <a:p>
            <a:pPr>
              <a:spcAft>
                <a:spcPts val="800"/>
              </a:spcAft>
            </a:pPr>
            <a:r>
              <a:rPr sz="1100" b="1" i="0">
                <a:solidFill>
                  <a:srgbClr val="1D4ED8"/>
                </a:solidFill>
                <a:latin typeface="Segoe UI"/>
              </a:rPr>
              <a:t>D.  </a:t>
            </a:r>
            <a:r>
              <a:rPr sz="1100" b="0" i="0">
                <a:solidFill>
                  <a:srgbClr val="3F3F46"/>
                </a:solidFill>
                <a:latin typeface="Segoe UI"/>
              </a:rPr>
              <a:t>Standardize all user features in a centralized Vertex AI Feature Store, allowing teams to search, share, and reuse registered feature views.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D</a:t>
            </a:r>
          </a:p>
          <a:p>
            <a:pPr>
              <a:spcAft>
                <a:spcPts val="1400"/>
              </a:spcAft>
            </a:pPr>
            <a:r>
              <a:rPr sz="1100" b="0" i="0">
                <a:solidFill>
                  <a:srgbClr val="3F3F46"/>
                </a:solidFill>
                <a:latin typeface="Segoe UI"/>
              </a:rPr>
              <a:t>Explanation: A primary goal of a feature store is code and resource sharing. Centralizing tabular features into Vertex AI Feature Store allows multiple teams to collaborate on a single registry, preventing duplicate ETL pipelines and saving cost.</a:t>
            </a:r>
          </a:p>
          <a:p>
            <a:r>
              <a:rPr sz="950" b="0" i="1">
                <a:solidFill>
                  <a:srgbClr val="71717A"/>
                </a:solidFill>
                <a:latin typeface="Segoe UI"/>
              </a:rPr>
              <a:t>GCP Reference: https://cloud.google.com/vertex-ai/docs/featurestore/latest/overview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5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Real-time Location Updates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 ride-sharing application needs to update driver location features every few seconds and serve these features to an active matching model during booking requests. How should the streaming ingestion pipeline be structured?</a:t>
            </a:r>
          </a:p>
          <a:p>
            <a:pPr>
              <a:spcAft>
                <a:spcPts val="800"/>
              </a:spcAft>
            </a:pPr>
            <a:r>
              <a:rPr sz="1100" b="1" i="0">
                <a:solidFill>
                  <a:srgbClr val="1D4ED8"/>
                </a:solidFill>
                <a:latin typeface="Segoe UI"/>
              </a:rPr>
              <a:t>A.  </a:t>
            </a:r>
            <a:r>
              <a:rPr sz="1100" b="0" i="0">
                <a:solidFill>
                  <a:srgbClr val="3F3F46"/>
                </a:solidFill>
                <a:latin typeface="Segoe UI"/>
              </a:rPr>
              <a:t>Run a batch Dataflow job every hour to dump CSV features to Cloud Storage and import them to the Feature Store.</a:t>
            </a:r>
          </a:p>
          <a:p>
            <a:pPr>
              <a:spcAft>
                <a:spcPts val="800"/>
              </a:spcAft>
            </a:pPr>
            <a:r>
              <a:rPr sz="1100" b="1" i="0">
                <a:solidFill>
                  <a:srgbClr val="1D4ED8"/>
                </a:solidFill>
                <a:latin typeface="Segoe UI"/>
              </a:rPr>
              <a:t>B.  </a:t>
            </a:r>
            <a:r>
              <a:rPr sz="1100" b="0" i="0">
                <a:solidFill>
                  <a:srgbClr val="3F3F46"/>
                </a:solidFill>
                <a:latin typeface="Segoe UI"/>
              </a:rPr>
              <a:t>Ingest location events via Cloud Pub/Sub, process them in real-time with Cloud Dataflow, and write directly to the Feature Store online database using streaming writes.</a:t>
            </a:r>
          </a:p>
          <a:p>
            <a:pPr>
              <a:spcAft>
                <a:spcPts val="800"/>
              </a:spcAft>
            </a:pPr>
            <a:r>
              <a:rPr sz="1100" b="1" i="0">
                <a:solidFill>
                  <a:srgbClr val="1D4ED8"/>
                </a:solidFill>
                <a:latin typeface="Segoe UI"/>
              </a:rPr>
              <a:t>C.  </a:t>
            </a:r>
            <a:r>
              <a:rPr sz="1100" b="0" i="0">
                <a:solidFill>
                  <a:srgbClr val="3F3F46"/>
                </a:solidFill>
                <a:latin typeface="Segoe UI"/>
              </a:rPr>
              <a:t>Write location features directly from mobile client apps to a central BigQuery dataset using row inserts.</a:t>
            </a:r>
          </a:p>
          <a:p>
            <a:pPr>
              <a:spcAft>
                <a:spcPts val="800"/>
              </a:spcAft>
            </a:pPr>
            <a:r>
              <a:rPr sz="1100" b="1" i="0">
                <a:solidFill>
                  <a:srgbClr val="1D4ED8"/>
                </a:solidFill>
                <a:latin typeface="Segoe UI"/>
              </a:rPr>
              <a:t>D.  </a:t>
            </a:r>
            <a:r>
              <a:rPr sz="1100" b="0" i="0">
                <a:solidFill>
                  <a:srgbClr val="3F3F46"/>
                </a:solidFill>
                <a:latin typeface="Segoe UI"/>
              </a:rPr>
              <a:t>Set up Cloud Composer to trigger Python Cloud Functions that query BigQuery ML predictions.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Real-time streaming ingestion uses the Pub/Sub -&gt; Dataflow -&gt; Feature Store (online database writes) pattern. This ensures that driver coordinate feature updates are written with sub-second lag and immediately readable by inference requests.</a:t>
            </a:r>
          </a:p>
          <a:p>
            <a:r>
              <a:rPr sz="950" b="0" i="1">
                <a:solidFill>
                  <a:srgbClr val="71717A"/>
                </a:solidFill>
                <a:latin typeface="Segoe UI"/>
              </a:rPr>
              <a:t>GCP Reference: https://cloud.google.com/vertex-ai/docs/featurestore/legacy/ingest-streaming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6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Network Security &amp; Governance</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 healthcare provider wants to deploy a disease risk prediction model using Vertex AI. The patient features are highly sensitive. The compliance team mandates that no data can traverse the public internet, and exfiltration must be blocked. How should the Feature Store be secured?</a:t>
            </a:r>
          </a:p>
          <a:p>
            <a:pPr>
              <a:spcAft>
                <a:spcPts val="800"/>
              </a:spcAft>
            </a:pPr>
            <a:r>
              <a:rPr sz="1100" b="1" i="0">
                <a:solidFill>
                  <a:srgbClr val="1D4ED8"/>
                </a:solidFill>
                <a:latin typeface="Segoe UI"/>
              </a:rPr>
              <a:t>A.  </a:t>
            </a:r>
            <a:r>
              <a:rPr sz="1100" b="0" i="0">
                <a:solidFill>
                  <a:srgbClr val="3F3F46"/>
                </a:solidFill>
                <a:latin typeface="Segoe UI"/>
              </a:rPr>
              <a:t>Rely on default HTTPS encryption and restrict Google Cloud project access to employees using MFA.</a:t>
            </a:r>
          </a:p>
          <a:p>
            <a:pPr>
              <a:spcAft>
                <a:spcPts val="800"/>
              </a:spcAft>
            </a:pPr>
            <a:r>
              <a:rPr sz="1100" b="1" i="0">
                <a:solidFill>
                  <a:srgbClr val="1D4ED8"/>
                </a:solidFill>
                <a:latin typeface="Segoe UI"/>
              </a:rPr>
              <a:t>B.  </a:t>
            </a:r>
            <a:r>
              <a:rPr sz="1100" b="0" i="0">
                <a:solidFill>
                  <a:srgbClr val="3F3F46"/>
                </a:solidFill>
                <a:latin typeface="Segoe UI"/>
              </a:rPr>
              <a:t>Store datasets in regional buckets and restrict permissions using Google Groups.</a:t>
            </a:r>
          </a:p>
          <a:p>
            <a:pPr>
              <a:spcAft>
                <a:spcPts val="800"/>
              </a:spcAft>
            </a:pPr>
            <a:r>
              <a:rPr sz="1100" b="1" i="0">
                <a:solidFill>
                  <a:srgbClr val="1D4ED8"/>
                </a:solidFill>
                <a:latin typeface="Segoe UI"/>
              </a:rPr>
              <a:t>C.  </a:t>
            </a:r>
            <a:r>
              <a:rPr sz="1100" b="0" i="0">
                <a:solidFill>
                  <a:srgbClr val="3F3F46"/>
                </a:solidFill>
                <a:latin typeface="Segoe UI"/>
              </a:rPr>
              <a:t>Place the Vertex AI Feature Store and online serving instances inside a VPC Service Controls (VPC-SC) security perimeter and query endpoints using private connections.</a:t>
            </a:r>
          </a:p>
          <a:p>
            <a:pPr>
              <a:spcAft>
                <a:spcPts val="800"/>
              </a:spcAft>
            </a:pPr>
            <a:r>
              <a:rPr sz="1100" b="1" i="0">
                <a:solidFill>
                  <a:srgbClr val="1D4ED8"/>
                </a:solidFill>
                <a:latin typeface="Segoe UI"/>
              </a:rPr>
              <a:t>D.  </a:t>
            </a:r>
            <a:r>
              <a:rPr sz="1100" b="0" i="0">
                <a:solidFill>
                  <a:srgbClr val="3F3F46"/>
                </a:solidFill>
                <a:latin typeface="Segoe UI"/>
              </a:rPr>
              <a:t>Encrypt all patient data using client-side libraries before uploading to a public BigQuery table.</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C</a:t>
            </a:r>
          </a:p>
          <a:p>
            <a:pPr>
              <a:spcAft>
                <a:spcPts val="1400"/>
              </a:spcAft>
            </a:pPr>
            <a:r>
              <a:rPr sz="1100" b="0" i="0">
                <a:solidFill>
                  <a:srgbClr val="3F3F46"/>
                </a:solidFill>
                <a:latin typeface="Segoe UI"/>
              </a:rPr>
              <a:t>Explanation: VPC Service Controls (VPC-SC) allows defining a network security perimeter around sensitive services, including Vertex AI Feature Store. It mitigates data exfiltration risk by blocking communications with resources outside the perimeter.</a:t>
            </a:r>
          </a:p>
          <a:p>
            <a:r>
              <a:rPr sz="950" b="0" i="1">
                <a:solidFill>
                  <a:srgbClr val="71717A"/>
                </a:solidFill>
                <a:latin typeface="Segoe UI"/>
              </a:rPr>
              <a:t>GCP Reference: https://cloud.google.com/vertex-ai/docs/general/vpc-sc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7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Least Privilege Access Control</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You are deploying an online prediction service on GKE that queries Vertex AI Feature Store to fetch user feature vectors during inference. To comply with security best practices, what IAM role should be assigned to the GKE service account?</a:t>
            </a:r>
          </a:p>
          <a:p>
            <a:pPr>
              <a:spcAft>
                <a:spcPts val="800"/>
              </a:spcAft>
            </a:pPr>
            <a:r>
              <a:rPr sz="1100" b="1" i="0">
                <a:solidFill>
                  <a:srgbClr val="1D4ED8"/>
                </a:solidFill>
                <a:latin typeface="Segoe UI"/>
              </a:rPr>
              <a:t>A.  </a:t>
            </a:r>
            <a:r>
              <a:rPr sz="1100" b="0" i="0">
                <a:solidFill>
                  <a:srgbClr val="3F3F46"/>
                </a:solidFill>
                <a:latin typeface="Segoe UI"/>
              </a:rPr>
              <a:t>roles/aiplatform.user</a:t>
            </a:r>
          </a:p>
          <a:p>
            <a:pPr>
              <a:spcAft>
                <a:spcPts val="800"/>
              </a:spcAft>
            </a:pPr>
            <a:r>
              <a:rPr sz="1100" b="1" i="0">
                <a:solidFill>
                  <a:srgbClr val="1D4ED8"/>
                </a:solidFill>
                <a:latin typeface="Segoe UI"/>
              </a:rPr>
              <a:t>B.  </a:t>
            </a:r>
            <a:r>
              <a:rPr sz="1100" b="0" i="0">
                <a:solidFill>
                  <a:srgbClr val="3F3F46"/>
                </a:solidFill>
                <a:latin typeface="Segoe UI"/>
              </a:rPr>
              <a:t>roles/aiplatform.admin</a:t>
            </a:r>
          </a:p>
          <a:p>
            <a:pPr>
              <a:spcAft>
                <a:spcPts val="800"/>
              </a:spcAft>
            </a:pPr>
            <a:r>
              <a:rPr sz="1100" b="1" i="0">
                <a:solidFill>
                  <a:srgbClr val="1D4ED8"/>
                </a:solidFill>
                <a:latin typeface="Segoe UI"/>
              </a:rPr>
              <a:t>C.  </a:t>
            </a:r>
            <a:r>
              <a:rPr sz="1100" b="0" i="0">
                <a:solidFill>
                  <a:srgbClr val="3F3F46"/>
                </a:solidFill>
                <a:latin typeface="Segoe UI"/>
              </a:rPr>
              <a:t>roles/owner</a:t>
            </a:r>
          </a:p>
          <a:p>
            <a:pPr>
              <a:spcAft>
                <a:spcPts val="800"/>
              </a:spcAft>
            </a:pPr>
            <a:r>
              <a:rPr sz="1100" b="1" i="0">
                <a:solidFill>
                  <a:srgbClr val="1D4ED8"/>
                </a:solidFill>
                <a:latin typeface="Segoe UI"/>
              </a:rPr>
              <a:t>D.  </a:t>
            </a:r>
            <a:r>
              <a:rPr sz="1100" b="0" i="0">
                <a:solidFill>
                  <a:srgbClr val="3F3F46"/>
                </a:solidFill>
                <a:latin typeface="Segoe UI"/>
              </a:rPr>
              <a:t>roles/bigquery.dataEditor</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A</a:t>
            </a:r>
          </a:p>
          <a:p>
            <a:pPr>
              <a:spcAft>
                <a:spcPts val="1400"/>
              </a:spcAft>
            </a:pPr>
            <a:r>
              <a:rPr sz="1100" b="0" i="0">
                <a:solidFill>
                  <a:srgbClr val="3F3F46"/>
                </a:solidFill>
                <a:latin typeface="Segoe UI"/>
              </a:rPr>
              <a:t>Explanation: The `roles/aiplatform.user` role is the correct least privilege assignment for serving clients. It permits reading and listing feature store values, but does not allow administrative operations like editing groups or deleting stores.</a:t>
            </a:r>
          </a:p>
          <a:p>
            <a:r>
              <a:rPr sz="950" b="0" i="1">
                <a:solidFill>
                  <a:srgbClr val="71717A"/>
                </a:solidFill>
                <a:latin typeface="Segoe UI"/>
              </a:rPr>
              <a:t>GCP Reference: https://cloud.google.com/vertex-ai/docs/general/access-control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8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Model Monitoring &amp; Feature Drift</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An ecommerce classification model uses features from Vertex AI Feature Store. Over time, the distribution of user purchase behavior shifts, causing prediction accuracy to drop. How can the team automate detection of this feature drift?</a:t>
            </a:r>
          </a:p>
          <a:p>
            <a:pPr>
              <a:spcAft>
                <a:spcPts val="800"/>
              </a:spcAft>
            </a:pPr>
            <a:r>
              <a:rPr sz="1100" b="1" i="0">
                <a:solidFill>
                  <a:srgbClr val="1D4ED8"/>
                </a:solidFill>
                <a:latin typeface="Segoe UI"/>
              </a:rPr>
              <a:t>A.  </a:t>
            </a:r>
            <a:r>
              <a:rPr sz="1100" b="0" i="0">
                <a:solidFill>
                  <a:srgbClr val="3F3F46"/>
                </a:solidFill>
                <a:latin typeface="Segoe UI"/>
              </a:rPr>
              <a:t>Run weekly statistical histograms manually inside local Jupyter notebooks to check variance.</a:t>
            </a:r>
          </a:p>
          <a:p>
            <a:pPr>
              <a:spcAft>
                <a:spcPts val="800"/>
              </a:spcAft>
            </a:pPr>
            <a:r>
              <a:rPr sz="1100" b="1" i="0">
                <a:solidFill>
                  <a:srgbClr val="1D4ED8"/>
                </a:solidFill>
                <a:latin typeface="Segoe UI"/>
              </a:rPr>
              <a:t>B.  </a:t>
            </a:r>
            <a:r>
              <a:rPr sz="1100" b="0" i="0">
                <a:solidFill>
                  <a:srgbClr val="3F3F46"/>
                </a:solidFill>
                <a:latin typeface="Segoe UI"/>
              </a:rPr>
              <a:t>Write a custom alert script that monitors memory usage on GKE prediction pods.</a:t>
            </a:r>
          </a:p>
          <a:p>
            <a:pPr>
              <a:spcAft>
                <a:spcPts val="800"/>
              </a:spcAft>
            </a:pPr>
            <a:r>
              <a:rPr sz="1100" b="1" i="0">
                <a:solidFill>
                  <a:srgbClr val="1D4ED8"/>
                </a:solidFill>
                <a:latin typeface="Segoe UI"/>
              </a:rPr>
              <a:t>C.  </a:t>
            </a:r>
            <a:r>
              <a:rPr sz="1100" b="0" i="0">
                <a:solidFill>
                  <a:srgbClr val="3F3F46"/>
                </a:solidFill>
                <a:latin typeface="Segoe UI"/>
              </a:rPr>
              <a:t>Re-train the model every 4 hours automatically to bypass checking if data drift exists.</a:t>
            </a:r>
          </a:p>
          <a:p>
            <a:pPr>
              <a:spcAft>
                <a:spcPts val="800"/>
              </a:spcAft>
            </a:pPr>
            <a:r>
              <a:rPr sz="1100" b="1" i="0">
                <a:solidFill>
                  <a:srgbClr val="1D4ED8"/>
                </a:solidFill>
                <a:latin typeface="Segoe UI"/>
              </a:rPr>
              <a:t>D.  </a:t>
            </a:r>
            <a:r>
              <a:rPr sz="1100" b="0" i="0">
                <a:solidFill>
                  <a:srgbClr val="3F3F46"/>
                </a:solidFill>
                <a:latin typeface="Segoe UI"/>
              </a:rPr>
              <a:t>Configure Vertex AI Model Monitoring on the deployed prediction endpoint, setting the training data as the baseline, and tracking feature drift metrics.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D</a:t>
            </a:r>
          </a:p>
          <a:p>
            <a:pPr>
              <a:spcAft>
                <a:spcPts val="1400"/>
              </a:spcAft>
            </a:pPr>
            <a:r>
              <a:rPr sz="1100" b="0" i="0">
                <a:solidFill>
                  <a:srgbClr val="3F3F46"/>
                </a:solidFill>
                <a:latin typeface="Segoe UI"/>
              </a:rPr>
              <a:t>Explanation: Vertex AI Model Monitoring runs continuous statistical scans of prediction requests, comparing them to training baselines. If metrics like Population Stability Index (PSI) cross thresholds, it fires alerts to retrain.</a:t>
            </a:r>
          </a:p>
          <a:p>
            <a:r>
              <a:rPr sz="950" b="0" i="1">
                <a:solidFill>
                  <a:srgbClr val="71717A"/>
                </a:solidFill>
                <a:latin typeface="Segoe UI"/>
              </a:rPr>
              <a:t>GCP Reference: https://cloud.google.com/vertex-ai/docs/model-monitoring/overview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9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Upgrading Feature Store Architecture</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An ML team has been using the legacy Vertex AI Feature Store (which manages its own storage nodes and requires periodic manual syncs). They want to adopt the latest version of Vertex AI Feature Store to reduce operational costs and enable zero-copy sharing. What structural change should they make?</a:t>
            </a:r>
          </a:p>
          <a:p>
            <a:pPr>
              <a:spcAft>
                <a:spcPts val="800"/>
              </a:spcAft>
            </a:pPr>
            <a:r>
              <a:rPr sz="1100" b="1" i="0">
                <a:solidFill>
                  <a:srgbClr val="1D4ED8"/>
                </a:solidFill>
                <a:latin typeface="Segoe UI"/>
              </a:rPr>
              <a:t>A.  </a:t>
            </a:r>
            <a:r>
              <a:rPr sz="1100" b="0" i="0">
                <a:solidFill>
                  <a:srgbClr val="3F3F46"/>
                </a:solidFill>
                <a:latin typeface="Segoe UI"/>
              </a:rPr>
              <a:t>Rebuild the ETL scripts in Dataflow to export direct JSON profiles to Memorystore for Redis.</a:t>
            </a:r>
          </a:p>
          <a:p>
            <a:pPr>
              <a:spcAft>
                <a:spcPts val="800"/>
              </a:spcAft>
            </a:pPr>
            <a:r>
              <a:rPr sz="1100" b="1" i="0">
                <a:solidFill>
                  <a:srgbClr val="1D4ED8"/>
                </a:solidFill>
                <a:latin typeface="Segoe UI"/>
              </a:rPr>
              <a:t>B.  </a:t>
            </a:r>
            <a:r>
              <a:rPr sz="1100" b="0" i="0">
                <a:solidFill>
                  <a:srgbClr val="3F3F46"/>
                </a:solidFill>
                <a:latin typeface="Segoe UI"/>
              </a:rPr>
              <a:t>Migrate to the latest BigQuery-centric Feature Store and register existing BigQuery tables or logical views directly as Feature Groups.</a:t>
            </a:r>
          </a:p>
          <a:p>
            <a:pPr>
              <a:spcAft>
                <a:spcPts val="800"/>
              </a:spcAft>
            </a:pPr>
            <a:r>
              <a:rPr sz="1100" b="1" i="0">
                <a:solidFill>
                  <a:srgbClr val="1D4ED8"/>
                </a:solidFill>
                <a:latin typeface="Segoe UI"/>
              </a:rPr>
              <a:t>C.  </a:t>
            </a:r>
            <a:r>
              <a:rPr sz="1100" b="0" i="0">
                <a:solidFill>
                  <a:srgbClr val="3F3F46"/>
                </a:solidFill>
                <a:latin typeface="Segoe UI"/>
              </a:rPr>
              <a:t>Switch all machine learning features to local CSV files hosted on Compute Engine instances.</a:t>
            </a:r>
          </a:p>
          <a:p>
            <a:pPr>
              <a:spcAft>
                <a:spcPts val="800"/>
              </a:spcAft>
            </a:pPr>
            <a:r>
              <a:rPr sz="1100" b="1" i="0">
                <a:solidFill>
                  <a:srgbClr val="1D4ED8"/>
                </a:solidFill>
                <a:latin typeface="Segoe UI"/>
              </a:rPr>
              <a:t>D.  </a:t>
            </a:r>
            <a:r>
              <a:rPr sz="1100" b="0" i="0">
                <a:solidFill>
                  <a:srgbClr val="3F3F46"/>
                </a:solidFill>
                <a:latin typeface="Segoe UI"/>
              </a:rPr>
              <a:t>Re-deploy the legacy feature store nodes inside multiple different GCP zones.</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B</a:t>
            </a:r>
          </a:p>
          <a:p>
            <a:pPr>
              <a:spcAft>
                <a:spcPts val="1400"/>
              </a:spcAft>
            </a:pPr>
            <a:r>
              <a:rPr sz="1100" b="0" i="0">
                <a:solidFill>
                  <a:srgbClr val="3F3F46"/>
                </a:solidFill>
                <a:latin typeface="Segoe UI"/>
              </a:rPr>
              <a:t>Explanation: The latest version of Vertex AI Feature Store is built around BigQuery as a single source of truth. It allows defining Feature Groups directly on BigQuery schemas, achieving zero-copy synchronization and lowering management cost.</a:t>
            </a:r>
          </a:p>
          <a:p>
            <a:r>
              <a:rPr sz="950" b="0" i="1">
                <a:solidFill>
                  <a:srgbClr val="71717A"/>
                </a:solidFill>
                <a:latin typeface="Segoe UI"/>
              </a:rPr>
              <a:t>GCP Reference: https://cloud.google.com/vertex-ai/docs/featurestore/latest/overview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4E4E6"/>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r>
              <a:rPr sz="1000" b="1" i="0">
                <a:solidFill>
                  <a:srgbClr val="1D4ED8"/>
                </a:solidFill>
                <a:latin typeface="Segoe UI"/>
              </a:rPr>
              <a:t>PRACTICE SCENARIO 10 OF 10</a:t>
            </a:r>
          </a:p>
        </p:txBody>
      </p:sp>
      <p:sp>
        <p:nvSpPr>
          <p:cNvPr id="3" name="TextBox 2"/>
          <p:cNvSpPr txBox="1"/>
          <p:nvPr/>
        </p:nvSpPr>
        <p:spPr>
          <a:xfrm>
            <a:off x="731520" y="640080"/>
            <a:ext cx="10698480" cy="548640"/>
          </a:xfrm>
          <a:prstGeom prst="rect">
            <a:avLst/>
          </a:prstGeom>
          <a:noFill/>
        </p:spPr>
        <p:txBody>
          <a:bodyPr wrap="square" lIns="0" rIns="0" tIns="0" bIns="0">
            <a:spAutoFit/>
          </a:bodyPr>
          <a:lstStyle/>
          <a:p>
            <a:r>
              <a:rPr sz="2800" b="1" i="0">
                <a:solidFill>
                  <a:srgbClr val="18181B"/>
                </a:solidFill>
                <a:latin typeface="Segoe UI"/>
              </a:rPr>
              <a:t>Handling Missing Features</a:t>
            </a:r>
          </a:p>
        </p:txBody>
      </p:sp>
      <p:sp>
        <p:nvSpPr>
          <p:cNvPr id="4" name="TextBox 3"/>
          <p:cNvSpPr txBox="1"/>
          <p:nvPr/>
        </p:nvSpPr>
        <p:spPr>
          <a:xfrm>
            <a:off x="731520" y="1371600"/>
            <a:ext cx="6217920" cy="4754880"/>
          </a:xfrm>
          <a:prstGeom prst="rect">
            <a:avLst/>
          </a:prstGeom>
          <a:noFill/>
        </p:spPr>
        <p:txBody>
          <a:bodyPr wrap="square" lIns="0" rIns="0" tIns="0" bIns="0">
            <a:spAutoFit/>
          </a:bodyPr>
          <a:lstStyle/>
          <a:p>
            <a:pPr>
              <a:spcAft>
                <a:spcPts val="1400"/>
              </a:spcAft>
            </a:pPr>
            <a:r>
              <a:rPr sz="1200" b="1" i="0">
                <a:solidFill>
                  <a:srgbClr val="18181B"/>
                </a:solidFill>
                <a:latin typeface="Segoe UI"/>
              </a:rPr>
              <a:t>During online serving, a prediction request arrives for a newly registered user who does not yet have calculated feature values in the Feature Store. The model requires valid numerical inputs. How should the pipeline handle this?</a:t>
            </a:r>
          </a:p>
          <a:p>
            <a:pPr>
              <a:spcAft>
                <a:spcPts val="800"/>
              </a:spcAft>
            </a:pPr>
            <a:r>
              <a:rPr sz="1100" b="1" i="0">
                <a:solidFill>
                  <a:srgbClr val="1D4ED8"/>
                </a:solidFill>
                <a:latin typeface="Segoe UI"/>
              </a:rPr>
              <a:t>A.  </a:t>
            </a:r>
            <a:r>
              <a:rPr sz="1100" b="0" i="0">
                <a:solidFill>
                  <a:srgbClr val="3F3F46"/>
                </a:solidFill>
                <a:latin typeface="Segoe UI"/>
              </a:rPr>
              <a:t>Configure the GKE serving application to catch empty/NULL responses from the Feature Store and impute them using pre-calculated median or mean statistics.</a:t>
            </a:r>
          </a:p>
          <a:p>
            <a:pPr>
              <a:spcAft>
                <a:spcPts val="800"/>
              </a:spcAft>
            </a:pPr>
            <a:r>
              <a:rPr sz="1100" b="1" i="0">
                <a:solidFill>
                  <a:srgbClr val="1D4ED8"/>
                </a:solidFill>
                <a:latin typeface="Segoe UI"/>
              </a:rPr>
              <a:t>B.  </a:t>
            </a:r>
            <a:r>
              <a:rPr sz="1100" b="0" i="0">
                <a:solidFill>
                  <a:srgbClr val="3F3F46"/>
                </a:solidFill>
                <a:latin typeface="Segoe UI"/>
              </a:rPr>
              <a:t>Allow the model prediction to fail and return an HTTP 500 error to the customer application.</a:t>
            </a:r>
          </a:p>
          <a:p>
            <a:pPr>
              <a:spcAft>
                <a:spcPts val="800"/>
              </a:spcAft>
            </a:pPr>
            <a:r>
              <a:rPr sz="1100" b="1" i="0">
                <a:solidFill>
                  <a:srgbClr val="1D4ED8"/>
                </a:solidFill>
                <a:latin typeface="Segoe UI"/>
              </a:rPr>
              <a:t>C.  </a:t>
            </a:r>
            <a:r>
              <a:rPr sz="1100" b="0" i="0">
                <a:solidFill>
                  <a:srgbClr val="3F3F46"/>
                </a:solidFill>
                <a:latin typeface="Segoe UI"/>
              </a:rPr>
              <a:t>Block user registrations until their feature extraction batch job finishes running at midnight.</a:t>
            </a:r>
          </a:p>
          <a:p>
            <a:pPr>
              <a:spcAft>
                <a:spcPts val="800"/>
              </a:spcAft>
            </a:pPr>
            <a:r>
              <a:rPr sz="1100" b="1" i="0">
                <a:solidFill>
                  <a:srgbClr val="1D4ED8"/>
                </a:solidFill>
                <a:latin typeface="Segoe UI"/>
              </a:rPr>
              <a:t>D.  </a:t>
            </a:r>
            <a:r>
              <a:rPr sz="1100" b="0" i="0">
                <a:solidFill>
                  <a:srgbClr val="3F3F46"/>
                </a:solidFill>
                <a:latin typeface="Segoe UI"/>
              </a:rPr>
              <a:t>Set the missing features to extremely high values (e.g. 99999) to bypass inputs verification.</a:t>
            </a:r>
          </a:p>
        </p:txBody>
      </p:sp>
      <p:sp>
        <p:nvSpPr>
          <p:cNvPr id="5" name="Rounded Rectangle 4"/>
          <p:cNvSpPr/>
          <p:nvPr/>
        </p:nvSpPr>
        <p:spPr>
          <a:xfrm>
            <a:off x="7315200" y="1645920"/>
            <a:ext cx="4114800" cy="4480560"/>
          </a:xfrm>
          <a:prstGeom prst="roundRect">
            <a:avLst/>
          </a:prstGeom>
          <a:solidFill>
            <a:srgbClr val="FFFFFF"/>
          </a:solidFill>
          <a:ln w="15240">
            <a:solidFill>
              <a:srgbClr val="D4D4D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200"/>
              </a:spcAft>
            </a:pPr>
            <a:r>
              <a:rPr sz="1600" b="1" i="0">
                <a:solidFill>
                  <a:srgbClr val="18181B"/>
                </a:solidFill>
                <a:latin typeface="Segoe UI"/>
              </a:rPr>
              <a:t>Validation Panel</a:t>
            </a:r>
          </a:p>
          <a:p>
            <a:pPr>
              <a:spcAft>
                <a:spcPts val="1000"/>
              </a:spcAft>
            </a:pPr>
            <a:r>
              <a:rPr sz="1400" b="1" i="0">
                <a:solidFill>
                  <a:srgbClr val="047857"/>
                </a:solidFill>
                <a:latin typeface="Segoe UI"/>
              </a:rPr>
              <a:t>Correct Answer: A</a:t>
            </a:r>
          </a:p>
          <a:p>
            <a:pPr>
              <a:spcAft>
                <a:spcPts val="1400"/>
              </a:spcAft>
            </a:pPr>
            <a:r>
              <a:rPr sz="1100" b="0" i="0">
                <a:solidFill>
                  <a:srgbClr val="3F3F46"/>
                </a:solidFill>
                <a:latin typeface="Segoe UI"/>
              </a:rPr>
              <a:t>Explanation: Cold-start users will lack history in the feature store registry, returning NULL. Imputing values in the serving API wrapper (using pre-aggregated median/mean values) prevents inference model crashes.</a:t>
            </a:r>
          </a:p>
          <a:p>
            <a:r>
              <a:rPr sz="950" b="0" i="1">
                <a:solidFill>
                  <a:srgbClr val="71717A"/>
                </a:solidFill>
                <a:latin typeface="Segoe UI"/>
              </a:rPr>
              <a:t>GCP Reference: https://cloud.google.com/vertex-ai/docs/featurestore/latest/read-feature-values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