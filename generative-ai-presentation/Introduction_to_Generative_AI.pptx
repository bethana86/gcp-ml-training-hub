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914400" y="1828800"/>
            <a:ext cx="10360152" cy="2926080"/>
          </a:xfrm>
          <a:prstGeom prst="rect">
            <a:avLst/>
          </a:prstGeom>
          <a:noFill/>
        </p:spPr>
        <p:txBody>
          <a:bodyPr wrap="square" lIns="0" rIns="0" tIns="0" bIns="0">
            <a:spAutoFit/>
          </a:bodyPr>
          <a:lstStyle/>
          <a:p>
            <a:pPr>
              <a:spcAft>
                <a:spcPts val="1000"/>
              </a:spcAft>
            </a:pPr>
            <a:r>
              <a:rPr sz="1300" b="1" i="0">
                <a:solidFill>
                  <a:srgbClr val="1D4ED8"/>
                </a:solidFill>
                <a:latin typeface="Segoe UI"/>
              </a:rPr>
              <a:t>GOOGLE CLOUD GENAI</a:t>
            </a:r>
          </a:p>
          <a:p>
            <a:pPr>
              <a:spcAft>
                <a:spcPts val="1600"/>
              </a:spcAft>
            </a:pPr>
            <a:r>
              <a:rPr sz="4800" b="1" i="0">
                <a:solidFill>
                  <a:srgbClr val="18181B"/>
                </a:solidFill>
                <a:latin typeface="Segoe UI"/>
              </a:rPr>
              <a:t>Introduction to Generative AI</a:t>
            </a:r>
          </a:p>
          <a:p>
            <a:pPr>
              <a:spcAft>
                <a:spcPts val="3600"/>
              </a:spcAft>
            </a:pPr>
            <a:r>
              <a:rPr sz="1600" b="0" i="0">
                <a:solidFill>
                  <a:srgbClr val="3F3F46"/>
                </a:solidFill>
                <a:latin typeface="Segoe UI"/>
              </a:rPr>
              <a:t>Core Concepts, Transformer Architectures, LLM Pre-training, and Enterprise Prompt Engineering</a:t>
            </a:r>
          </a:p>
        </p:txBody>
      </p:sp>
      <p:sp>
        <p:nvSpPr>
          <p:cNvPr id="3" name="TextBox 2"/>
          <p:cNvSpPr txBox="1"/>
          <p:nvPr/>
        </p:nvSpPr>
        <p:spPr>
          <a:xfrm>
            <a:off x="914400" y="5303520"/>
            <a:ext cx="10360152" cy="457200"/>
          </a:xfrm>
          <a:prstGeom prst="rect">
            <a:avLst/>
          </a:prstGeom>
          <a:noFill/>
        </p:spPr>
        <p:txBody>
          <a:bodyPr wrap="square" lIns="0" rIns="0" tIns="0" bIns="0">
            <a:spAutoFit/>
          </a:bodyPr>
          <a:lstStyle/>
          <a:p>
            <a:r>
              <a:rPr sz="1150" b="0" i="0">
                <a:solidFill>
                  <a:srgbClr val="71717A"/>
                </a:solidFill>
                <a:latin typeface="Segoe UI"/>
              </a:rPr>
              <a:t>Presenter: Bethanasamy Rajamani  |  Audience: Professional ML Engineer Candidates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THE PROBLEM</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Core Challenges in GenAI Applications</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Hallucination Risks: </a:t>
            </a:r>
            <a:r>
              <a:rPr sz="1250" b="0" i="0">
                <a:solidFill>
                  <a:srgbClr val="3F3F46"/>
                </a:solidFill>
                <a:latin typeface="Segoe UI"/>
              </a:rPr>
              <a:t>Models generate fluent but factually incorrect statements due to statistical next-token optimization.</a:t>
            </a:r>
          </a:p>
          <a:p>
            <a:pPr>
              <a:spcAft>
                <a:spcPts val="1200"/>
              </a:spcAft>
            </a:pPr>
            <a:r>
              <a:rPr sz="1300" b="1" i="0">
                <a:solidFill>
                  <a:srgbClr val="1D4ED8"/>
                </a:solidFill>
                <a:latin typeface="Segoe UI"/>
              </a:rPr>
              <a:t>→  </a:t>
            </a:r>
            <a:r>
              <a:rPr sz="1250" b="1" i="0">
                <a:solidFill>
                  <a:srgbClr val="18181B"/>
                </a:solidFill>
                <a:latin typeface="Segoe UI"/>
              </a:rPr>
              <a:t>Context Window Limits: </a:t>
            </a:r>
            <a:r>
              <a:rPr sz="1250" b="0" i="0">
                <a:solidFill>
                  <a:srgbClr val="3F3F46"/>
                </a:solidFill>
                <a:latin typeface="Segoe UI"/>
              </a:rPr>
              <a:t>Transformers can process only a limited number of tokens in memory, leading to retrieval failures on massive corpora.</a:t>
            </a:r>
          </a:p>
          <a:p>
            <a:pPr>
              <a:spcAft>
                <a:spcPts val="1200"/>
              </a:spcAft>
            </a:pPr>
            <a:r>
              <a:rPr sz="1300" b="1" i="0">
                <a:solidFill>
                  <a:srgbClr val="1D4ED8"/>
                </a:solidFill>
                <a:latin typeface="Segoe UI"/>
              </a:rPr>
              <a:t>→  </a:t>
            </a:r>
            <a:r>
              <a:rPr sz="1250" b="1" i="0">
                <a:solidFill>
                  <a:srgbClr val="18181B"/>
                </a:solidFill>
                <a:latin typeface="Segoe UI"/>
              </a:rPr>
              <a:t>High Inference Costs: </a:t>
            </a:r>
            <a:r>
              <a:rPr sz="1250" b="0" i="0">
                <a:solidFill>
                  <a:srgbClr val="3F3F46"/>
                </a:solidFill>
                <a:latin typeface="Segoe UI"/>
              </a:rPr>
              <a:t>Auto-regressive decoding is memory-bound, demanding persistent high-tier GPU/TPU resources.</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 customer support chatbot attempts to quote insurance terms. Without grounding, it fabricates a refund policy (hallucination). At 10,000 queries per minute, standard API serving costs scale exponentially (high inference costs).</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Why Standard NLP Falls Short</a:t>
            </a:r>
          </a:p>
          <a:p>
            <a:pPr>
              <a:spcAft>
                <a:spcPts val="1600"/>
              </a:spcAft>
            </a:pPr>
            <a:r>
              <a:rPr sz="1100" b="0" i="0">
                <a:solidFill>
                  <a:srgbClr val="3F3F46"/>
                </a:solidFill>
                <a:latin typeface="Segoe UI"/>
              </a:rPr>
              <a:t>Traditional rule-based and classification NLP models (such as BERT or simple LSTM classifiers) are excellent for sentiment scoring or named entity extraction. However, they lack the semantic reasoning, zero-shot generalization, and synthesis capabilities required to build interactive reasoning agents.</a:t>
            </a:r>
          </a:p>
          <a:p>
            <a:r>
              <a:rPr sz="1050" b="1" i="0">
                <a:solidFill>
                  <a:srgbClr val="1D4ED8"/>
                </a:solidFill>
                <a:latin typeface="Segoe UI"/>
              </a:rPr>
              <a:t>Example: Writing custom classification rules for 50 different document layouts is inefficient compared to prompting a foundation model to extract structured JSON.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ARCHITECTURAL OVERVIEW</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What is Generative AI?</a:t>
            </a:r>
          </a:p>
        </p:txBody>
      </p:sp>
      <p:sp>
        <p:nvSpPr>
          <p:cNvPr id="4" name="TextBox 3"/>
          <p:cNvSpPr txBox="1"/>
          <p:nvPr/>
        </p:nvSpPr>
        <p:spPr>
          <a:xfrm>
            <a:off x="731520" y="1371600"/>
            <a:ext cx="6217920" cy="457200"/>
          </a:xfrm>
          <a:prstGeom prst="rect">
            <a:avLst/>
          </a:prstGeom>
          <a:noFill/>
        </p:spPr>
        <p:txBody>
          <a:bodyPr wrap="none">
            <a:spAutoFit/>
          </a:bodyPr>
          <a:lstStyle/>
          <a:p>
            <a:r>
              <a:rPr sz="1300" b="1" i="0">
                <a:solidFill>
                  <a:srgbClr val="18181B"/>
                </a:solidFill>
                <a:latin typeface="Segoe UI"/>
              </a:rPr>
              <a:t>A category of artificial intelligence that creates new content, utilizing massive pre-trained transformer weights.</a:t>
            </a:r>
          </a:p>
        </p:txBody>
      </p:sp>
      <p:sp>
        <p:nvSpPr>
          <p:cNvPr id="5" name="TextBox 4"/>
          <p:cNvSpPr txBox="1"/>
          <p:nvPr/>
        </p:nvSpPr>
        <p:spPr>
          <a:xfrm>
            <a:off x="731520" y="1920240"/>
            <a:ext cx="6217920" cy="265176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Centralized Foundation Models: </a:t>
            </a:r>
            <a:r>
              <a:rPr sz="1250" b="0" i="0">
                <a:solidFill>
                  <a:srgbClr val="3F3F46"/>
                </a:solidFill>
                <a:latin typeface="Segoe UI"/>
              </a:rPr>
              <a:t>Trained on internet-scale datasets, forming baseline reasoning capabilities.</a:t>
            </a:r>
          </a:p>
          <a:p>
            <a:pPr>
              <a:spcAft>
                <a:spcPts val="1200"/>
              </a:spcAft>
            </a:pPr>
            <a:r>
              <a:rPr sz="1300" b="1" i="0">
                <a:solidFill>
                  <a:srgbClr val="1D4ED8"/>
                </a:solidFill>
                <a:latin typeface="Segoe UI"/>
              </a:rPr>
              <a:t>→  </a:t>
            </a:r>
            <a:r>
              <a:rPr sz="1250" b="1" i="0">
                <a:solidFill>
                  <a:srgbClr val="18181B"/>
                </a:solidFill>
                <a:latin typeface="Segoe UI"/>
              </a:rPr>
              <a:t>Multimodality: </a:t>
            </a:r>
            <a:r>
              <a:rPr sz="1250" b="0" i="0">
                <a:solidFill>
                  <a:srgbClr val="3F3F46"/>
                </a:solidFill>
                <a:latin typeface="Segoe UI"/>
              </a:rPr>
              <a:t>Natively processes and connects diverse modalities including text, images, video, and audio code.</a:t>
            </a:r>
          </a:p>
          <a:p>
            <a:pPr>
              <a:spcAft>
                <a:spcPts val="1200"/>
              </a:spcAft>
            </a:pPr>
            <a:r>
              <a:rPr sz="1300" b="1" i="0">
                <a:solidFill>
                  <a:srgbClr val="1D4ED8"/>
                </a:solidFill>
                <a:latin typeface="Segoe UI"/>
              </a:rPr>
              <a:t>→  </a:t>
            </a:r>
            <a:r>
              <a:rPr sz="1250" b="1" i="0">
                <a:solidFill>
                  <a:srgbClr val="18181B"/>
                </a:solidFill>
                <a:latin typeface="Segoe UI"/>
              </a:rPr>
              <a:t>Transfer Learning: </a:t>
            </a:r>
            <a:r>
              <a:rPr sz="1250" b="0" i="0">
                <a:solidFill>
                  <a:srgbClr val="3F3F46"/>
                </a:solidFill>
                <a:latin typeface="Segoe UI"/>
              </a:rPr>
              <a:t>Repurposes general knowledge to specific downstream tasks via fine-tuning or in-context prompting.</a:t>
            </a:r>
          </a:p>
        </p:txBody>
      </p:sp>
      <p:sp>
        <p:nvSpPr>
          <p:cNvPr id="6" name="Rectangle 5"/>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 business analyst inputs natural language questions. The model generates both the SQL query and an explanatory summary, translating unstructured language into structured system database queries.</a:t>
            </a:r>
          </a:p>
        </p:txBody>
      </p:sp>
      <p:sp>
        <p:nvSpPr>
          <p:cNvPr id="7" name="Rounded Rectangle 6"/>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Operational Benefits</a:t>
            </a:r>
          </a:p>
          <a:p>
            <a:pPr>
              <a:spcBef>
                <a:spcPts val="400"/>
              </a:spcBef>
            </a:pPr>
            <a:r>
              <a:rPr sz="1200" b="1" i="0">
                <a:solidFill>
                  <a:srgbClr val="1D4ED8"/>
                </a:solidFill>
                <a:latin typeface="Segoe UI"/>
              </a:rPr>
              <a:t>⚡ Zero-Shot Reasoning Capabilities</a:t>
            </a:r>
          </a:p>
          <a:p>
            <a:pPr>
              <a:spcAft>
                <a:spcPts val="1000"/>
              </a:spcAft>
            </a:pPr>
            <a:r>
              <a:rPr sz="1050" b="0" i="0">
                <a:solidFill>
                  <a:srgbClr val="3F3F46"/>
                </a:solidFill>
                <a:latin typeface="Segoe UI"/>
              </a:rPr>
              <a:t>Solves new, unseen tasks simply by receiving descriptive prompts without requiring model gradient updates or parameter fine-tuning.</a:t>
            </a:r>
          </a:p>
          <a:p>
            <a:r>
              <a:rPr sz="1200" b="1" i="0">
                <a:solidFill>
                  <a:srgbClr val="047857"/>
                </a:solidFill>
                <a:latin typeface="Segoe UI"/>
              </a:rPr>
              <a:t>🔄 API Scalability &amp; Managed Access</a:t>
            </a:r>
          </a:p>
          <a:p>
            <a:pPr>
              <a:spcAft>
                <a:spcPts val="1000"/>
              </a:spcAft>
            </a:pPr>
            <a:r>
              <a:rPr sz="1050" b="0" i="0">
                <a:solidFill>
                  <a:srgbClr val="3F3F46"/>
                </a:solidFill>
                <a:latin typeface="Segoe UI"/>
              </a:rPr>
              <a:t>Deploy models serverless via the Gemini API, eliminating custom hardware hosting, scaling, and load-balancer operations.</a:t>
            </a:r>
          </a:p>
          <a:p>
            <a:r>
              <a:rPr sz="1200" b="1" i="0">
                <a:solidFill>
                  <a:srgbClr val="BE185D"/>
                </a:solidFill>
                <a:latin typeface="Segoe UI"/>
              </a:rPr>
              <a:t>🔗 Rapid Application Deployment Loops</a:t>
            </a:r>
          </a:p>
          <a:p>
            <a:r>
              <a:rPr sz="1050" b="0" i="0">
                <a:solidFill>
                  <a:srgbClr val="3F3F46"/>
                </a:solidFill>
                <a:latin typeface="Segoe UI"/>
              </a:rPr>
              <a:t>Decouples model engineering from software features. Application logic adjusts by updating system prompts rather than retraining pipelines.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MODEL ARCHITECTURE</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Transformer Architecture Hierarchy</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Self-Attention Layer: </a:t>
            </a:r>
            <a:r>
              <a:rPr sz="1250" b="0" i="0">
                <a:solidFill>
                  <a:srgbClr val="3F3F46"/>
                </a:solidFill>
                <a:latin typeface="Segoe UI"/>
              </a:rPr>
              <a:t>Calculates dynamic mathematical weights representing how tokens relate within a context window.</a:t>
            </a:r>
          </a:p>
          <a:p>
            <a:pPr>
              <a:spcAft>
                <a:spcPts val="1200"/>
              </a:spcAft>
            </a:pPr>
            <a:r>
              <a:rPr sz="1300" b="1" i="0">
                <a:solidFill>
                  <a:srgbClr val="1D4ED8"/>
                </a:solidFill>
                <a:latin typeface="Segoe UI"/>
              </a:rPr>
              <a:t>→  </a:t>
            </a:r>
            <a:r>
              <a:rPr sz="1250" b="1" i="0">
                <a:solidFill>
                  <a:srgbClr val="18181B"/>
                </a:solidFill>
                <a:latin typeface="Segoe UI"/>
              </a:rPr>
              <a:t>Encoder-Decoder Blocks: </a:t>
            </a:r>
            <a:r>
              <a:rPr sz="1250" b="0" i="0">
                <a:solidFill>
                  <a:srgbClr val="3F3F46"/>
                </a:solidFill>
                <a:latin typeface="Segoe UI"/>
              </a:rPr>
              <a:t>Encodes input text into vector spaces, and decodes vectors to target sequences (ideal for translation).</a:t>
            </a:r>
          </a:p>
          <a:p>
            <a:pPr>
              <a:spcAft>
                <a:spcPts val="1200"/>
              </a:spcAft>
            </a:pPr>
            <a:r>
              <a:rPr sz="1300" b="1" i="0">
                <a:solidFill>
                  <a:srgbClr val="1D4ED8"/>
                </a:solidFill>
                <a:latin typeface="Segoe UI"/>
              </a:rPr>
              <a:t>→  </a:t>
            </a:r>
            <a:r>
              <a:rPr sz="1250" b="1" i="0">
                <a:solidFill>
                  <a:srgbClr val="18181B"/>
                </a:solidFill>
                <a:latin typeface="Segoe UI"/>
              </a:rPr>
              <a:t>Decoder-Only Autoregressive: </a:t>
            </a:r>
            <a:r>
              <a:rPr sz="1250" b="0" i="0">
                <a:solidFill>
                  <a:srgbClr val="3F3F46"/>
                </a:solidFill>
                <a:latin typeface="Segoe UI"/>
              </a:rPr>
              <a:t>Generates next tokens sequentially based on past contexts (backbone of modern Gemini/LLMs).</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Input Tokens = ["Generative", "AI", "is"]. Self-attention maps that "AI" strongly relates to "Generative", predicting the next probable token "transformational".</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Key Design Pattern</a:t>
            </a:r>
          </a:p>
          <a:p>
            <a:r>
              <a:rPr sz="1100" b="0" i="0">
                <a:solidFill>
                  <a:srgbClr val="3F3F46"/>
                </a:solidFill>
                <a:latin typeface="Segoe UI"/>
              </a:rPr>
              <a:t>Raw inputs are tokenized and mapped to continuous vector Embeddings. Positional Encodings are added to maintain sequence order. Multi-head attention blocks then capture relationships in parallel, outputting normalized token probabilities.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INGESTION PIPELINES</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Pre-training &amp; Fine-Tuning Pipelines</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Unsupervised Pre-training: </a:t>
            </a:r>
            <a:r>
              <a:rPr sz="1250" b="0" i="0">
                <a:solidFill>
                  <a:srgbClr val="3F3F46"/>
                </a:solidFill>
                <a:latin typeface="Segoe UI"/>
              </a:rPr>
              <a:t>Large-scale model training on raw text corpus to predict next words, building baseline semantics.</a:t>
            </a:r>
          </a:p>
          <a:p>
            <a:pPr>
              <a:spcAft>
                <a:spcPts val="1200"/>
              </a:spcAft>
            </a:pPr>
            <a:r>
              <a:rPr sz="1300" b="1" i="0">
                <a:solidFill>
                  <a:srgbClr val="1D4ED8"/>
                </a:solidFill>
                <a:latin typeface="Segoe UI"/>
              </a:rPr>
              <a:t>→  </a:t>
            </a:r>
            <a:r>
              <a:rPr sz="1250" b="1" i="0">
                <a:solidFill>
                  <a:srgbClr val="18181B"/>
                </a:solidFill>
                <a:latin typeface="Segoe UI"/>
              </a:rPr>
              <a:t>Supervised Fine-Tuning (SFT): </a:t>
            </a:r>
            <a:r>
              <a:rPr sz="1250" b="0" i="0">
                <a:solidFill>
                  <a:srgbClr val="3F3F46"/>
                </a:solidFill>
                <a:latin typeface="Segoe UI"/>
              </a:rPr>
              <a:t>Trains the base model on high-quality instruction-response pairs to learn task compliance.</a:t>
            </a:r>
          </a:p>
          <a:p>
            <a:pPr>
              <a:spcAft>
                <a:spcPts val="1200"/>
              </a:spcAft>
            </a:pPr>
            <a:r>
              <a:rPr sz="1300" b="1" i="0">
                <a:solidFill>
                  <a:srgbClr val="1D4ED8"/>
                </a:solidFill>
                <a:latin typeface="Segoe UI"/>
              </a:rPr>
              <a:t>→  </a:t>
            </a:r>
            <a:r>
              <a:rPr sz="1250" b="1" i="0">
                <a:solidFill>
                  <a:srgbClr val="18181B"/>
                </a:solidFill>
                <a:latin typeface="Segoe UI"/>
              </a:rPr>
              <a:t>RLHF Alignment: </a:t>
            </a:r>
            <a:r>
              <a:rPr sz="1250" b="0" i="0">
                <a:solidFill>
                  <a:srgbClr val="3F3F46"/>
                </a:solidFill>
                <a:latin typeface="Segoe UI"/>
              </a:rPr>
              <a:t>Integrates Reinforcement Learning from Human Feedback to align outputs with safety and preferences.</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Raw internet scrap builds a Base Model. Supervised training on 50,000 chat logs creates an SFT Model. Reward optimization aligned with human reviewers produces a final chat-ready LLM.</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Active Model Training Flow</a:t>
            </a:r>
          </a:p>
        </p:txBody>
      </p:sp>
      <p:sp>
        <p:nvSpPr>
          <p:cNvPr id="7" name="Rounded Rectangle 6"/>
          <p:cNvSpPr/>
          <p:nvPr/>
        </p:nvSpPr>
        <p:spPr>
          <a:xfrm>
            <a:off x="7589520" y="2286000"/>
            <a:ext cx="1554480" cy="548640"/>
          </a:xfrm>
          <a:prstGeom prst="roundRect">
            <a:avLst/>
          </a:prstGeom>
          <a:solidFill>
            <a:srgbClr val="FFFFFF"/>
          </a:solidFill>
          <a:ln w="1905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Raw Text</a:t>
            </a:r>
            <a:br/>
            <a:r>
              <a:t>(Unlabeled)</a:t>
            </a:r>
          </a:p>
        </p:txBody>
      </p:sp>
      <p:sp>
        <p:nvSpPr>
          <p:cNvPr id="8" name="Rounded Rectangle 7"/>
          <p:cNvSpPr/>
          <p:nvPr/>
        </p:nvSpPr>
        <p:spPr>
          <a:xfrm>
            <a:off x="9601200" y="2286000"/>
            <a:ext cx="1554480" cy="548640"/>
          </a:xfrm>
          <a:prstGeom prst="roundRect">
            <a:avLst/>
          </a:prstGeom>
          <a:solidFill>
            <a:srgbClr val="FFFFFF"/>
          </a:solidFill>
          <a:ln w="1905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Base Model</a:t>
            </a:r>
            <a:br/>
            <a:r>
              <a:t>(Weights)</a:t>
            </a:r>
          </a:p>
        </p:txBody>
      </p:sp>
      <p:sp>
        <p:nvSpPr>
          <p:cNvPr id="9" name="Rounded Rectangle 8"/>
          <p:cNvSpPr/>
          <p:nvPr/>
        </p:nvSpPr>
        <p:spPr>
          <a:xfrm>
            <a:off x="7589520" y="4114800"/>
            <a:ext cx="1554480" cy="548640"/>
          </a:xfrm>
          <a:prstGeom prst="roundRect">
            <a:avLst/>
          </a:prstGeom>
          <a:solidFill>
            <a:srgbClr val="FFFFFF"/>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SFT Model</a:t>
            </a:r>
            <a:br/>
            <a:r>
              <a:t>(Instruction Tuned)</a:t>
            </a:r>
          </a:p>
        </p:txBody>
      </p:sp>
      <p:sp>
        <p:nvSpPr>
          <p:cNvPr id="10" name="Rounded Rectangle 9"/>
          <p:cNvSpPr/>
          <p:nvPr/>
        </p:nvSpPr>
        <p:spPr>
          <a:xfrm>
            <a:off x="9601200" y="4114800"/>
            <a:ext cx="1554480" cy="548640"/>
          </a:xfrm>
          <a:prstGeom prst="roundRect">
            <a:avLst/>
          </a:prstGeom>
          <a:solidFill>
            <a:srgbClr val="FFFFFF"/>
          </a:solidFill>
          <a:ln w="254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RLHF Model</a:t>
            </a:r>
            <a:br/>
            <a:r>
              <a:t>(Aligned Preferences)</a:t>
            </a:r>
          </a:p>
        </p:txBody>
      </p:sp>
      <p:cxnSp>
        <p:nvCxnSpPr>
          <p:cNvPr id="11" name="Connector 10"/>
          <p:cNvCxnSpPr/>
          <p:nvPr/>
        </p:nvCxnSpPr>
        <p:spPr>
          <a:xfrm>
            <a:off x="9144000" y="2560320"/>
            <a:ext cx="457200" cy="0"/>
          </a:xfrm>
          <a:prstGeom prst="line">
            <a:avLst/>
          </a:prstGeom>
          <a:ln w="25400">
            <a:solidFill>
              <a:srgbClr val="BE185D"/>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8366760" y="2834640"/>
            <a:ext cx="2011680" cy="1280160"/>
          </a:xfrm>
          <a:prstGeom prst="line">
            <a:avLst/>
          </a:prstGeom>
          <a:ln w="25400">
            <a:solidFill>
              <a:srgbClr val="047857"/>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0" y="4389120"/>
            <a:ext cx="457200" cy="0"/>
          </a:xfrm>
          <a:prstGeom prst="line">
            <a:avLst/>
          </a:prstGeom>
          <a:ln w="25400">
            <a:solidFill>
              <a:srgbClr val="1D4ED8"/>
            </a:solidFill>
            <a:tailEnd type="arrow"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SERVING (LOW LATENCY)</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LLM Inference Mechanics</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Tokenization &amp; Embeddings: </a:t>
            </a:r>
            <a:r>
              <a:rPr sz="1250" b="0" i="0">
                <a:solidFill>
                  <a:srgbClr val="3F3F46"/>
                </a:solidFill>
                <a:latin typeface="Segoe UI"/>
              </a:rPr>
              <a:t>Input text is broken down into unique numerical token IDs, mapped to semantic vector spaces.</a:t>
            </a:r>
          </a:p>
          <a:p>
            <a:pPr>
              <a:spcAft>
                <a:spcPts val="1200"/>
              </a:spcAft>
            </a:pPr>
            <a:r>
              <a:rPr sz="1300" b="1" i="0">
                <a:solidFill>
                  <a:srgbClr val="1D4ED8"/>
                </a:solidFill>
                <a:latin typeface="Segoe UI"/>
              </a:rPr>
              <a:t>→  </a:t>
            </a:r>
            <a:r>
              <a:rPr sz="1250" b="1" i="0">
                <a:solidFill>
                  <a:srgbClr val="18181B"/>
                </a:solidFill>
                <a:latin typeface="Segoe UI"/>
              </a:rPr>
              <a:t>KV Caching: </a:t>
            </a:r>
            <a:r>
              <a:rPr sz="1250" b="0" i="0">
                <a:solidFill>
                  <a:srgbClr val="3F3F46"/>
                </a:solidFill>
                <a:latin typeface="Segoe UI"/>
              </a:rPr>
              <a:t>Stores key-value attention representations of past tokens, skipping redundant matrix calculations during generation loops.</a:t>
            </a:r>
          </a:p>
          <a:p>
            <a:pPr>
              <a:spcAft>
                <a:spcPts val="1200"/>
              </a:spcAft>
            </a:pPr>
            <a:r>
              <a:rPr sz="1300" b="1" i="0">
                <a:solidFill>
                  <a:srgbClr val="1D4ED8"/>
                </a:solidFill>
                <a:latin typeface="Segoe UI"/>
              </a:rPr>
              <a:t>→  </a:t>
            </a:r>
            <a:r>
              <a:rPr sz="1250" b="1" i="0">
                <a:solidFill>
                  <a:srgbClr val="18181B"/>
                </a:solidFill>
                <a:latin typeface="Segoe UI"/>
              </a:rPr>
              <a:t>Decoding Parameters: </a:t>
            </a:r>
            <a:r>
              <a:rPr sz="1250" b="0" i="0">
                <a:solidFill>
                  <a:srgbClr val="3F3F46"/>
                </a:solidFill>
                <a:latin typeface="Segoe UI"/>
              </a:rPr>
              <a:t>Parameters like Temperature and Top-K/Top-P shape output selection, controlling creativity vs consistency.</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An API endpoint receives a prompt. It tokenizes inputs, processes them through transformer layers in 24ms (Time-To-First-Token), and streams generated tokens sequentially over HTTP/2.</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Online Token generation &amp; KV Loop</a:t>
            </a:r>
          </a:p>
        </p:txBody>
      </p:sp>
      <p:sp>
        <p:nvSpPr>
          <p:cNvPr id="7" name="Oval 6"/>
          <p:cNvSpPr/>
          <p:nvPr/>
        </p:nvSpPr>
        <p:spPr>
          <a:xfrm>
            <a:off x="7772400" y="3108960"/>
            <a:ext cx="1097280" cy="1097280"/>
          </a:xfrm>
          <a:prstGeom prst="ellipse">
            <a:avLst/>
          </a:prstGeom>
          <a:solidFill>
            <a:srgbClr val="FFFFFF"/>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8181B"/>
                </a:solidFill>
                <a:latin typeface="Segoe UI"/>
              </a:rPr>
              <a:t>Model API</a:t>
            </a:r>
          </a:p>
        </p:txBody>
      </p:sp>
      <p:sp>
        <p:nvSpPr>
          <p:cNvPr id="8" name="Oval 7"/>
          <p:cNvSpPr/>
          <p:nvPr/>
        </p:nvSpPr>
        <p:spPr>
          <a:xfrm>
            <a:off x="9875520" y="3108960"/>
            <a:ext cx="1097280" cy="1097280"/>
          </a:xfrm>
          <a:prstGeom prst="ellipse">
            <a:avLst/>
          </a:prstGeom>
          <a:solidFill>
            <a:srgbClr val="FFFFFF"/>
          </a:solidFill>
          <a:ln w="254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8181B"/>
                </a:solidFill>
                <a:latin typeface="Segoe UI"/>
              </a:rPr>
              <a:t>LLM Core</a:t>
            </a:r>
          </a:p>
        </p:txBody>
      </p:sp>
      <p:cxnSp>
        <p:nvCxnSpPr>
          <p:cNvPr id="9" name="Connector 8"/>
          <p:cNvCxnSpPr/>
          <p:nvPr/>
        </p:nvCxnSpPr>
        <p:spPr>
          <a:xfrm>
            <a:off x="8869680" y="3383280"/>
            <a:ext cx="1005840" cy="0"/>
          </a:xfrm>
          <a:prstGeom prst="line">
            <a:avLst/>
          </a:prstGeom>
          <a:ln w="25400">
            <a:solidFill>
              <a:srgbClr val="047857"/>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8869680" y="3931920"/>
            <a:ext cx="1005840" cy="0"/>
          </a:xfrm>
          <a:prstGeom prst="line">
            <a:avLst/>
          </a:prstGeom>
          <a:ln w="25400">
            <a:solidFill>
              <a:srgbClr val="1D4ED8"/>
            </a:solidFill>
            <a:tailEnd type="arrow"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823960" y="2377440"/>
            <a:ext cx="1097280" cy="457200"/>
          </a:xfrm>
          <a:prstGeom prst="roundRect">
            <a:avLst/>
          </a:prstGeom>
          <a:solidFill>
            <a:srgbClr val="F4F4F5"/>
          </a:solidFill>
          <a:ln w="1270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i="0">
                <a:solidFill>
                  <a:srgbClr val="047857"/>
                </a:solidFill>
                <a:latin typeface="Consolas"/>
              </a:rPr>
              <a:t>24ms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SERVING (ANALYTICAL)</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Retrieval-Augmented Generation (RAG)</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Document Chunking: </a:t>
            </a:r>
            <a:r>
              <a:rPr sz="1250" b="0" i="0">
                <a:solidFill>
                  <a:srgbClr val="3F3F46"/>
                </a:solidFill>
                <a:latin typeface="Segoe UI"/>
              </a:rPr>
              <a:t>Divides large enterprise manuals into overlapping semantic text snippets for indexing.</a:t>
            </a:r>
          </a:p>
          <a:p>
            <a:pPr>
              <a:spcAft>
                <a:spcPts val="1200"/>
              </a:spcAft>
            </a:pPr>
            <a:r>
              <a:rPr sz="1300" b="1" i="0">
                <a:solidFill>
                  <a:srgbClr val="1D4ED8"/>
                </a:solidFill>
                <a:latin typeface="Segoe UI"/>
              </a:rPr>
              <a:t>→  </a:t>
            </a:r>
            <a:r>
              <a:rPr sz="1250" b="1" i="0">
                <a:solidFill>
                  <a:srgbClr val="18181B"/>
                </a:solidFill>
                <a:latin typeface="Segoe UI"/>
              </a:rPr>
              <a:t>Vector Embeddings: </a:t>
            </a:r>
            <a:r>
              <a:rPr sz="1250" b="0" i="0">
                <a:solidFill>
                  <a:srgbClr val="3F3F46"/>
                </a:solidFill>
                <a:latin typeface="Segoe UI"/>
              </a:rPr>
              <a:t>Encodes document chunks into dense coordinate vectors using text embedding models.</a:t>
            </a:r>
          </a:p>
          <a:p>
            <a:pPr>
              <a:spcAft>
                <a:spcPts val="1200"/>
              </a:spcAft>
            </a:pPr>
            <a:r>
              <a:rPr sz="1300" b="1" i="0">
                <a:solidFill>
                  <a:srgbClr val="1D4ED8"/>
                </a:solidFill>
                <a:latin typeface="Segoe UI"/>
              </a:rPr>
              <a:t>→  </a:t>
            </a:r>
            <a:r>
              <a:rPr sz="1250" b="1" i="0">
                <a:solidFill>
                  <a:srgbClr val="18181B"/>
                </a:solidFill>
                <a:latin typeface="Segoe UI"/>
              </a:rPr>
              <a:t>Semantic Join: </a:t>
            </a:r>
            <a:r>
              <a:rPr sz="1250" b="0" i="0">
                <a:solidFill>
                  <a:srgbClr val="3F3F46"/>
                </a:solidFill>
                <a:latin typeface="Segoe UI"/>
              </a:rPr>
              <a:t>Searches vector spaces using cosine similarity to find document context segments matching user queries.</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 user asks: "What is our Q3 cloud budget?" The system searches Vector Search, retrieves a table chunk from q3_financials.pdf, and injects it to ground the LLM's response.</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Query Vector Sweep &amp; Semantic Match</a:t>
            </a:r>
          </a:p>
        </p:txBody>
      </p:sp>
      <p:sp>
        <p:nvSpPr>
          <p:cNvPr id="7" name="Rectangle 6"/>
          <p:cNvSpPr/>
          <p:nvPr/>
        </p:nvSpPr>
        <p:spPr>
          <a:xfrm>
            <a:off x="7680960" y="3474720"/>
            <a:ext cx="3383280" cy="36576"/>
          </a:xfrm>
          <a:prstGeom prst="rect">
            <a:avLst/>
          </a:prstGeom>
          <a:solidFill>
            <a:srgbClr val="D4D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0" y="3383280"/>
            <a:ext cx="228600" cy="228600"/>
          </a:xfrm>
          <a:prstGeom prst="ellipse">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0" y="3383280"/>
            <a:ext cx="228600" cy="228600"/>
          </a:xfrm>
          <a:prstGeom prst="ellipse">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332720" y="3383280"/>
            <a:ext cx="228600" cy="228600"/>
          </a:xfrm>
          <a:prstGeom prst="ellipse">
            <a:avLst/>
          </a:prstGeom>
          <a:solidFill>
            <a:srgbClr val="717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784080" y="2377440"/>
            <a:ext cx="36576" cy="18288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920240"/>
            <a:ext cx="3383280" cy="365760"/>
          </a:xfrm>
          <a:prstGeom prst="rect">
            <a:avLst/>
          </a:prstGeom>
          <a:noFill/>
        </p:spPr>
        <p:txBody>
          <a:bodyPr wrap="square">
            <a:spAutoFit/>
          </a:bodyPr>
          <a:lstStyle/>
          <a:p>
            <a:pPr algn="ctr"/>
            <a:r>
              <a:rPr sz="1000" b="1" i="0">
                <a:solidFill>
                  <a:srgbClr val="1D4ED8"/>
                </a:solidFill>
                <a:latin typeface="Segoe UI"/>
              </a:rPr>
              <a:t>Query Vector Sweep (Cosine Lookup)</a:t>
            </a:r>
          </a:p>
        </p:txBody>
      </p:sp>
      <p:sp>
        <p:nvSpPr>
          <p:cNvPr id="13" name="TextBox 12"/>
          <p:cNvSpPr txBox="1"/>
          <p:nvPr/>
        </p:nvSpPr>
        <p:spPr>
          <a:xfrm>
            <a:off x="7680960" y="4297680"/>
            <a:ext cx="3383280" cy="365760"/>
          </a:xfrm>
          <a:prstGeom prst="rect">
            <a:avLst/>
          </a:prstGeom>
          <a:noFill/>
        </p:spPr>
        <p:txBody>
          <a:bodyPr wrap="square">
            <a:spAutoFit/>
          </a:bodyPr>
          <a:lstStyle/>
          <a:p>
            <a:pPr algn="ctr"/>
            <a:r>
              <a:rPr sz="1000" b="1" i="0">
                <a:solidFill>
                  <a:srgbClr val="BE185D"/>
                </a:solidFill>
                <a:latin typeface="Segoe UI"/>
              </a:rPr>
              <a:t>[Semantic Context Injected]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MLOPS MONITORING</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LLM Safety &amp; Monitoring Integration</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Content Moderation Filters: </a:t>
            </a:r>
            <a:r>
              <a:rPr sz="1250" b="0" i="0">
                <a:solidFill>
                  <a:srgbClr val="3F3F46"/>
                </a:solidFill>
                <a:latin typeface="Segoe UI"/>
              </a:rPr>
              <a:t>Built-in safety hooks that evaluate model queries and responses for harassment, hate speech, and explicit blocks.</a:t>
            </a:r>
          </a:p>
          <a:p>
            <a:pPr>
              <a:spcAft>
                <a:spcPts val="1200"/>
              </a:spcAft>
            </a:pPr>
            <a:r>
              <a:rPr sz="1300" b="1" i="0">
                <a:solidFill>
                  <a:srgbClr val="1D4ED8"/>
                </a:solidFill>
                <a:latin typeface="Segoe UI"/>
              </a:rPr>
              <a:t>→  </a:t>
            </a:r>
            <a:r>
              <a:rPr sz="1250" b="1" i="0">
                <a:solidFill>
                  <a:srgbClr val="18181B"/>
                </a:solidFill>
                <a:latin typeface="Segoe UI"/>
              </a:rPr>
              <a:t>Semantic Drift Checks: </a:t>
            </a:r>
            <a:r>
              <a:rPr sz="1250" b="0" i="0">
                <a:solidFill>
                  <a:srgbClr val="3F3F46"/>
                </a:solidFill>
                <a:latin typeface="Segoe UI"/>
              </a:rPr>
              <a:t>Monitoring client prompt query patterns over time to capture task drift or adversarial injection patterns.</a:t>
            </a:r>
          </a:p>
          <a:p>
            <a:pPr>
              <a:spcAft>
                <a:spcPts val="1200"/>
              </a:spcAft>
            </a:pPr>
            <a:r>
              <a:rPr sz="1300" b="1" i="0">
                <a:solidFill>
                  <a:srgbClr val="1D4ED8"/>
                </a:solidFill>
                <a:latin typeface="Segoe UI"/>
              </a:rPr>
              <a:t>→  </a:t>
            </a:r>
            <a:r>
              <a:rPr sz="1250" b="1" i="0">
                <a:solidFill>
                  <a:srgbClr val="18181B"/>
                </a:solidFill>
                <a:latin typeface="Segoe UI"/>
              </a:rPr>
              <a:t>Guardrails Integration: </a:t>
            </a:r>
            <a:r>
              <a:rPr sz="1250" b="0" i="0">
                <a:solidFill>
                  <a:srgbClr val="3F3F46"/>
                </a:solidFill>
                <a:latin typeface="Segoe UI"/>
              </a:rPr>
              <a:t>Wrapping model routes with external middleware to filter toxic language prior to client presentation.</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An input prompt contains toxic patterns. The Vertex AI safety layer intercepts the request, blocks execution, and returns a structured response indicating a blocked classification.</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MLOps Operations Loop</a:t>
            </a:r>
          </a:p>
          <a:p>
            <a:r>
              <a:rPr sz="1150" b="0" i="0">
                <a:solidFill>
                  <a:srgbClr val="3F3F46"/>
                </a:solidFill>
                <a:latin typeface="Segoe UI"/>
              </a:rPr>
              <a:t>Deploying models in production requires active validation loops. Integrating safety checks in the prediction pipeline prevents reputation risks, toxic outputs, and jailbreak exploits.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TAKEAWAYS</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Architect's Checklist</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Zero-Shot/Few-Shot: </a:t>
            </a:r>
            <a:r>
              <a:rPr sz="1250" b="0" i="0">
                <a:solidFill>
                  <a:srgbClr val="3F3F46"/>
                </a:solidFill>
                <a:latin typeface="Segoe UI"/>
              </a:rPr>
              <a:t>First attempt prompting configurations before investing in custom parameter tuning.</a:t>
            </a:r>
          </a:p>
          <a:p>
            <a:pPr>
              <a:spcAft>
                <a:spcPts val="1200"/>
              </a:spcAft>
            </a:pPr>
            <a:r>
              <a:rPr sz="1300" b="1" i="0">
                <a:solidFill>
                  <a:srgbClr val="1D4ED8"/>
                </a:solidFill>
                <a:latin typeface="Segoe UI"/>
              </a:rPr>
              <a:t>→  </a:t>
            </a:r>
            <a:r>
              <a:rPr sz="1250" b="1" i="0">
                <a:solidFill>
                  <a:srgbClr val="18181B"/>
                </a:solidFill>
                <a:latin typeface="Segoe UI"/>
              </a:rPr>
              <a:t>Retrieval-Augmented Gen: </a:t>
            </a:r>
            <a:r>
              <a:rPr sz="1250" b="0" i="0">
                <a:solidFill>
                  <a:srgbClr val="3F3F46"/>
                </a:solidFill>
                <a:latin typeface="Segoe UI"/>
              </a:rPr>
              <a:t>Ground models using Vector Search to mitigate hallucinations and present fresh datasets.</a:t>
            </a:r>
          </a:p>
          <a:p>
            <a:pPr>
              <a:spcAft>
                <a:spcPts val="1200"/>
              </a:spcAft>
            </a:pPr>
            <a:r>
              <a:rPr sz="1300" b="1" i="0">
                <a:solidFill>
                  <a:srgbClr val="1D4ED8"/>
                </a:solidFill>
                <a:latin typeface="Segoe UI"/>
              </a:rPr>
              <a:t>→  </a:t>
            </a:r>
            <a:r>
              <a:rPr sz="1250" b="1" i="0">
                <a:solidFill>
                  <a:srgbClr val="18181B"/>
                </a:solidFill>
                <a:latin typeface="Segoe UI"/>
              </a:rPr>
              <a:t>Cost/Latency: </a:t>
            </a:r>
            <a:r>
              <a:rPr sz="1250" b="0" i="0">
                <a:solidFill>
                  <a:srgbClr val="3F3F46"/>
                </a:solidFill>
                <a:latin typeface="Segoe UI"/>
              </a:rPr>
              <a:t>Select Gemini Flash for quick, budget serving. Reserve Pro for complex reasoning.</a:t>
            </a:r>
          </a:p>
          <a:p>
            <a:pPr>
              <a:spcAft>
                <a:spcPts val="1200"/>
              </a:spcAft>
            </a:pPr>
            <a:r>
              <a:rPr sz="1300" b="1" i="0">
                <a:solidFill>
                  <a:srgbClr val="1D4ED8"/>
                </a:solidFill>
                <a:latin typeface="Segoe UI"/>
              </a:rPr>
              <a:t>→  </a:t>
            </a:r>
            <a:r>
              <a:rPr sz="1250" b="1" i="0">
                <a:solidFill>
                  <a:srgbClr val="18181B"/>
                </a:solidFill>
                <a:latin typeface="Segoe UI"/>
              </a:rPr>
              <a:t>Governance: </a:t>
            </a:r>
            <a:r>
              <a:rPr sz="1250" b="0" i="0">
                <a:solidFill>
                  <a:srgbClr val="3F3F46"/>
                </a:solidFill>
                <a:latin typeface="Segoe UI"/>
              </a:rPr>
              <a:t>Enforce IAM role boundaries and safety filter limits at the endpoint level.</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On the exam, if a scenario asks to connect private enterprise PDF documents with LLM outputs without model retraining, the answer is always RAG with Vector Search.</a:t>
            </a:r>
          </a:p>
        </p:txBody>
      </p:sp>
      <p:sp>
        <p:nvSpPr>
          <p:cNvPr id="6" name="Rounded Rectangle 5"/>
          <p:cNvSpPr/>
          <p:nvPr/>
        </p:nvSpPr>
        <p:spPr>
          <a:xfrm>
            <a:off x="7315200" y="1645920"/>
            <a:ext cx="4114800" cy="4480560"/>
          </a:xfrm>
          <a:prstGeom prst="roundRect">
            <a:avLst/>
          </a:prstGeom>
          <a:solidFill>
            <a:srgbClr val="FFFFFF"/>
          </a:solidFill>
          <a:ln w="1524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Exam Tip</a:t>
            </a:r>
          </a:p>
          <a:p>
            <a:r>
              <a:rPr sz="1150" b="0" i="0">
                <a:solidFill>
                  <a:srgbClr val="3F3F46"/>
                </a:solidFill>
                <a:latin typeface="Segoe UI"/>
              </a:rPr>
              <a:t>If the exam asks to adapt a model to proprietary, frequently changing documentation under tight budgets, **Retrieval-Augmented Generation (RAG)** is the correct choice over custom fine-tuning.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1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Choosing Fine-Tuning vs RAG</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A financial service company wants to build an internal virtual assistant to answer questions about dynamic company policies and daily updated mortgage rates. The documents contain sensitive proprietary information. What is the most cost-effective and architecturally sound pattern on GCP to implement this without exposing the base model to stale information?</a:t>
            </a:r>
          </a:p>
          <a:p>
            <a:pPr>
              <a:spcAft>
                <a:spcPts val="800"/>
              </a:spcAft>
            </a:pPr>
            <a:r>
              <a:rPr sz="1100" b="1" i="0">
                <a:solidFill>
                  <a:srgbClr val="1D4ED8"/>
                </a:solidFill>
                <a:latin typeface="Segoe UI"/>
              </a:rPr>
              <a:t>A.  </a:t>
            </a:r>
            <a:r>
              <a:rPr sz="1100" b="0" i="0">
                <a:solidFill>
                  <a:srgbClr val="3F3F46"/>
                </a:solidFill>
                <a:latin typeface="Segoe UI"/>
              </a:rPr>
              <a:t>Run a Vertex AI custom training pipeline to perform full parameter fine-tuning on the policy documents daily.</a:t>
            </a:r>
          </a:p>
          <a:p>
            <a:pPr>
              <a:spcAft>
                <a:spcPts val="800"/>
              </a:spcAft>
            </a:pPr>
            <a:r>
              <a:rPr sz="1100" b="1" i="0">
                <a:solidFill>
                  <a:srgbClr val="1D4ED8"/>
                </a:solidFill>
                <a:latin typeface="Segoe UI"/>
              </a:rPr>
              <a:t>B.  </a:t>
            </a:r>
            <a:r>
              <a:rPr sz="1100" b="0" i="0">
                <a:solidFill>
                  <a:srgbClr val="3F3F46"/>
                </a:solidFill>
                <a:latin typeface="Segoe UI"/>
              </a:rPr>
              <a:t>Build a Retrieval-Augmented Generation (RAG) pipeline by chunking the documents, generating embeddings, indexing them in Vertex AI Vector Search, and injecting retrieved contexts into the prompt.</a:t>
            </a:r>
          </a:p>
          <a:p>
            <a:pPr>
              <a:spcAft>
                <a:spcPts val="800"/>
              </a:spcAft>
            </a:pPr>
            <a:r>
              <a:rPr sz="1100" b="1" i="0">
                <a:solidFill>
                  <a:srgbClr val="1D4ED8"/>
                </a:solidFill>
                <a:latin typeface="Segoe UI"/>
              </a:rPr>
              <a:t>C.  </a:t>
            </a:r>
            <a:r>
              <a:rPr sz="1100" b="0" i="0">
                <a:solidFill>
                  <a:srgbClr val="3F3F46"/>
                </a:solidFill>
                <a:latin typeface="Segoe UI"/>
              </a:rPr>
              <a:t>Train a custom BigQuery ML logistic regression model to predict mortgage text outputs.</a:t>
            </a:r>
          </a:p>
          <a:p>
            <a:pPr>
              <a:spcAft>
                <a:spcPts val="800"/>
              </a:spcAft>
            </a:pPr>
            <a:r>
              <a:rPr sz="1100" b="1" i="0">
                <a:solidFill>
                  <a:srgbClr val="1D4ED8"/>
                </a:solidFill>
                <a:latin typeface="Segoe UI"/>
              </a:rPr>
              <a:t>D.  </a:t>
            </a:r>
            <a:r>
              <a:rPr sz="1100" b="0" i="0">
                <a:solidFill>
                  <a:srgbClr val="3F3F46"/>
                </a:solidFill>
                <a:latin typeface="Segoe UI"/>
              </a:rPr>
              <a:t>Train a student model using model distillation on Vertex AI.</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Retrieval-Augmented Generation (RAG) is the standard pattern to connect foundation models to dynamic, proprietary, and frequently updated external documents. It avoids the high computation cost of continuous model retraining and eliminates hallucinations by grounding the prompt with fresh retrieved context.</a:t>
            </a:r>
          </a:p>
          <a:p>
            <a:r>
              <a:rPr sz="950" b="0" i="1">
                <a:solidFill>
                  <a:srgbClr val="71717A"/>
                </a:solidFill>
                <a:latin typeface="Segoe UI"/>
              </a:rPr>
              <a:t>GCP Reference: Vertex AI - RAG Overview (https://cloud.google.com/vertex-ai/docs/generative-ai/rag-overview)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2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Hyperparameter Tuning for Diversity</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are building a creative marketing copy writer application powered by Gemini 1.5 Pro. The marketing team complains that the generated ad copy is too repetitive and predictable. How should you adjust the inference hyperparameters to increase the creativity and variety of the generated text?</a:t>
            </a:r>
          </a:p>
          <a:p>
            <a:pPr>
              <a:spcAft>
                <a:spcPts val="800"/>
              </a:spcAft>
            </a:pPr>
            <a:r>
              <a:rPr sz="1100" b="1" i="0">
                <a:solidFill>
                  <a:srgbClr val="1D4ED8"/>
                </a:solidFill>
                <a:latin typeface="Segoe UI"/>
              </a:rPr>
              <a:t>A.  </a:t>
            </a:r>
            <a:r>
              <a:rPr sz="1100" b="0" i="0">
                <a:solidFill>
                  <a:srgbClr val="3F3F46"/>
                </a:solidFill>
                <a:latin typeface="Segoe UI"/>
              </a:rPr>
              <a:t>Lower the Temperature closer to 0.0 and set Top-K to 1.</a:t>
            </a:r>
          </a:p>
          <a:p>
            <a:pPr>
              <a:spcAft>
                <a:spcPts val="800"/>
              </a:spcAft>
            </a:pPr>
            <a:r>
              <a:rPr sz="1100" b="1" i="0">
                <a:solidFill>
                  <a:srgbClr val="1D4ED8"/>
                </a:solidFill>
                <a:latin typeface="Segoe UI"/>
              </a:rPr>
              <a:t>B.  </a:t>
            </a:r>
            <a:r>
              <a:rPr sz="1100" b="0" i="0">
                <a:solidFill>
                  <a:srgbClr val="3F3F46"/>
                </a:solidFill>
                <a:latin typeface="Segoe UI"/>
              </a:rPr>
              <a:t>Increase the Temperature (e.g., to 1.0 or higher) and set a higher Top-P (e.g., 0.95) to allow a wider nucleus of candidate tokens.</a:t>
            </a:r>
          </a:p>
          <a:p>
            <a:pPr>
              <a:spcAft>
                <a:spcPts val="800"/>
              </a:spcAft>
            </a:pPr>
            <a:r>
              <a:rPr sz="1100" b="1" i="0">
                <a:solidFill>
                  <a:srgbClr val="1D4ED8"/>
                </a:solidFill>
                <a:latin typeface="Segoe UI"/>
              </a:rPr>
              <a:t>C.  </a:t>
            </a:r>
            <a:r>
              <a:rPr sz="1100" b="0" i="0">
                <a:solidFill>
                  <a:srgbClr val="3F3F46"/>
                </a:solidFill>
                <a:latin typeface="Segoe UI"/>
              </a:rPr>
              <a:t>Increase the size of the model's context window.</a:t>
            </a:r>
          </a:p>
          <a:p>
            <a:pPr>
              <a:spcAft>
                <a:spcPts val="800"/>
              </a:spcAft>
            </a:pPr>
            <a:r>
              <a:rPr sz="1100" b="1" i="0">
                <a:solidFill>
                  <a:srgbClr val="1D4ED8"/>
                </a:solidFill>
                <a:latin typeface="Segoe UI"/>
              </a:rPr>
              <a:t>D.  </a:t>
            </a:r>
            <a:r>
              <a:rPr sz="1100" b="0" i="0">
                <a:solidFill>
                  <a:srgbClr val="3F3F46"/>
                </a:solidFill>
                <a:latin typeface="Segoe UI"/>
              </a:rPr>
              <a:t>Freeze early transformer layers and perform LoRA fine-tuning.</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Temperature scales the next-token probability distribution; higher values increase randomness (creativity). Top-P (nucleus sampling) defines the cumulative probability boundary; raising it includes a wider set of candidate tokens, increasing diversity.</a:t>
            </a:r>
          </a:p>
          <a:p>
            <a:r>
              <a:rPr sz="950" b="0" i="1">
                <a:solidFill>
                  <a:srgbClr val="71717A"/>
                </a:solidFill>
                <a:latin typeface="Segoe UI"/>
              </a:rPr>
              <a:t>GCP Reference: Vertex AI - Configure Parameters (https://cloud.google.com/vertex-ai/docs/generative-ai/multimodal/configure-parameters)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3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Content Moderation &amp; Safety Filters</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A healthcare booking agent powered by the Gemini API must be deployed to the public. To ensure safety compliance, the agent must not generate dangerous medical advice or respond to sexually explicit inputs. How should you configure safety filters on Vertex AI?</a:t>
            </a:r>
          </a:p>
          <a:p>
            <a:pPr>
              <a:spcAft>
                <a:spcPts val="800"/>
              </a:spcAft>
            </a:pPr>
            <a:r>
              <a:rPr sz="1100" b="1" i="0">
                <a:solidFill>
                  <a:srgbClr val="1D4ED8"/>
                </a:solidFill>
                <a:latin typeface="Segoe UI"/>
              </a:rPr>
              <a:t>A.  </a:t>
            </a:r>
            <a:r>
              <a:rPr sz="1100" b="0" i="0">
                <a:solidFill>
                  <a:srgbClr val="3F3F46"/>
                </a:solidFill>
                <a:latin typeface="Segoe UI"/>
              </a:rPr>
              <a:t>Build a custom BERT classifier container in GKE to scan all outputs.</a:t>
            </a:r>
          </a:p>
          <a:p>
            <a:pPr>
              <a:spcAft>
                <a:spcPts val="800"/>
              </a:spcAft>
            </a:pPr>
            <a:r>
              <a:rPr sz="1100" b="1" i="0">
                <a:solidFill>
                  <a:srgbClr val="1D4ED8"/>
                </a:solidFill>
                <a:latin typeface="Segoe UI"/>
              </a:rPr>
              <a:t>B.  </a:t>
            </a:r>
            <a:r>
              <a:rPr sz="1100" b="0" i="0">
                <a:solidFill>
                  <a:srgbClr val="3F3F46"/>
                </a:solidFill>
                <a:latin typeface="Segoe UI"/>
              </a:rPr>
              <a:t>Configure the safetySettings block in the Gemini API request, mapping categories like HARM_CATEGORY_DANGEROUS_CONTENT to block thresholds (e.g., BLOCK_LOW_AND_ABOVE).</a:t>
            </a:r>
          </a:p>
          <a:p>
            <a:pPr>
              <a:spcAft>
                <a:spcPts val="800"/>
              </a:spcAft>
            </a:pPr>
            <a:r>
              <a:rPr sz="1100" b="1" i="0">
                <a:solidFill>
                  <a:srgbClr val="1D4ED8"/>
                </a:solidFill>
                <a:latin typeface="Segoe UI"/>
              </a:rPr>
              <a:t>C.  </a:t>
            </a:r>
            <a:r>
              <a:rPr sz="1100" b="0" i="0">
                <a:solidFill>
                  <a:srgbClr val="3F3F46"/>
                </a:solidFill>
                <a:latin typeface="Segoe UI"/>
              </a:rPr>
              <a:t>Wrap the model in a private VPC Service Controls perimeter.</a:t>
            </a:r>
          </a:p>
          <a:p>
            <a:pPr>
              <a:spcAft>
                <a:spcPts val="800"/>
              </a:spcAft>
            </a:pPr>
            <a:r>
              <a:rPr sz="1100" b="1" i="0">
                <a:solidFill>
                  <a:srgbClr val="1D4ED8"/>
                </a:solidFill>
                <a:latin typeface="Segoe UI"/>
              </a:rPr>
              <a:t>D.  </a:t>
            </a:r>
            <a:r>
              <a:rPr sz="1100" b="0" i="0">
                <a:solidFill>
                  <a:srgbClr val="3F3F46"/>
                </a:solidFill>
                <a:latin typeface="Segoe UI"/>
              </a:rPr>
              <a:t>Perform supervised fine-tuning using toxic datasets.</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Vertex AI provides built-in safety filters for categories like Hate Speech, Harassment, Sexually Explicit, and Dangerous Content. Developers adjust block thresholds directly in the generation config API request to catch and filter violations.</a:t>
            </a:r>
          </a:p>
          <a:p>
            <a:r>
              <a:rPr sz="950" b="0" i="1">
                <a:solidFill>
                  <a:srgbClr val="71717A"/>
                </a:solidFill>
                <a:latin typeface="Segoe UI"/>
              </a:rPr>
              <a:t>GCP Reference: Vertex AI - Safety Settings (https://cloud.google.com/vertex-ai/docs/generative-ai/safety-settings)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4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Grounding with Enterprise Search</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A company wants to build a search portal over thousands of internal product manuals without writing complex chunking, embedding, or database management code. Which Google Cloud service should they use?</a:t>
            </a:r>
          </a:p>
          <a:p>
            <a:pPr>
              <a:spcAft>
                <a:spcPts val="800"/>
              </a:spcAft>
            </a:pPr>
            <a:r>
              <a:rPr sz="1100" b="1" i="0">
                <a:solidFill>
                  <a:srgbClr val="1D4ED8"/>
                </a:solidFill>
                <a:latin typeface="Segoe UI"/>
              </a:rPr>
              <a:t>A.  </a:t>
            </a:r>
            <a:r>
              <a:rPr sz="1100" b="0" i="0">
                <a:solidFill>
                  <a:srgbClr val="3F3F46"/>
                </a:solidFill>
                <a:latin typeface="Segoe UI"/>
              </a:rPr>
              <a:t>Vertex AI Custom Ingest pipelines on Dataproc.</a:t>
            </a:r>
          </a:p>
          <a:p>
            <a:pPr>
              <a:spcAft>
                <a:spcPts val="800"/>
              </a:spcAft>
            </a:pPr>
            <a:r>
              <a:rPr sz="1100" b="1" i="0">
                <a:solidFill>
                  <a:srgbClr val="1D4ED8"/>
                </a:solidFill>
                <a:latin typeface="Segoe UI"/>
              </a:rPr>
              <a:t>B.  </a:t>
            </a:r>
            <a:r>
              <a:rPr sz="1100" b="0" i="0">
                <a:solidFill>
                  <a:srgbClr val="3F3F46"/>
                </a:solidFill>
                <a:latin typeface="Segoe UI"/>
              </a:rPr>
              <a:t>Vertex AI Agent Builder with a Data Store connected to their Cloud Storage bucket containing the manuals.</a:t>
            </a:r>
          </a:p>
          <a:p>
            <a:pPr>
              <a:spcAft>
                <a:spcPts val="800"/>
              </a:spcAft>
            </a:pPr>
            <a:r>
              <a:rPr sz="1100" b="1" i="0">
                <a:solidFill>
                  <a:srgbClr val="1D4ED8"/>
                </a:solidFill>
                <a:latin typeface="Segoe UI"/>
              </a:rPr>
              <a:t>C.  </a:t>
            </a:r>
            <a:r>
              <a:rPr sz="1100" b="0" i="0">
                <a:solidFill>
                  <a:srgbClr val="3F3F46"/>
                </a:solidFill>
                <a:latin typeface="Segoe UI"/>
              </a:rPr>
              <a:t>BigQuery ML with external model references.</a:t>
            </a:r>
          </a:p>
          <a:p>
            <a:pPr>
              <a:spcAft>
                <a:spcPts val="800"/>
              </a:spcAft>
            </a:pPr>
            <a:r>
              <a:rPr sz="1100" b="1" i="0">
                <a:solidFill>
                  <a:srgbClr val="1D4ED8"/>
                </a:solidFill>
                <a:latin typeface="Segoe UI"/>
              </a:rPr>
              <a:t>D.  </a:t>
            </a:r>
            <a:r>
              <a:rPr sz="1100" b="0" i="0">
                <a:solidFill>
                  <a:srgbClr val="3F3F46"/>
                </a:solidFill>
                <a:latin typeface="Segoe UI"/>
              </a:rPr>
              <a:t>Cloud Translation API connected to Pub/Sub.</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Vertex AI Agent Builder (specifically Enterprise Search) provides an out-of-the-box, no-code/low-code RAG system. By pointing a Data Store to a GCS bucket, the service automatically manages document ingestion, chunking, embeddings, and semantic grounding.</a:t>
            </a:r>
          </a:p>
          <a:p>
            <a:r>
              <a:rPr sz="950" b="0" i="1">
                <a:solidFill>
                  <a:srgbClr val="71717A"/>
                </a:solidFill>
                <a:latin typeface="Segoe UI"/>
              </a:rPr>
              <a:t>GCP Reference: Agent Builder - Create Data Store (https://cloud.google.com/generative-ai-app-builder/docs/create-datastore-search)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5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Parameter-Efficient Fine-Tuning</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need to adapt an open-source model (such as Gemma) to output proprietary medical code formats. You have limited GPU compute budget for training. Which training methodology is recommended on Vertex AI?</a:t>
            </a:r>
          </a:p>
          <a:p>
            <a:pPr>
              <a:spcAft>
                <a:spcPts val="800"/>
              </a:spcAft>
            </a:pPr>
            <a:r>
              <a:rPr sz="1100" b="1" i="0">
                <a:solidFill>
                  <a:srgbClr val="1D4ED8"/>
                </a:solidFill>
                <a:latin typeface="Segoe UI"/>
              </a:rPr>
              <a:t>A.  </a:t>
            </a:r>
            <a:r>
              <a:rPr sz="1100" b="0" i="0">
                <a:solidFill>
                  <a:srgbClr val="3F3F46"/>
                </a:solidFill>
                <a:latin typeface="Segoe UI"/>
              </a:rPr>
              <a:t>Full parameter fine-tuning of all 7 billion model weights.</a:t>
            </a:r>
          </a:p>
          <a:p>
            <a:pPr>
              <a:spcAft>
                <a:spcPts val="800"/>
              </a:spcAft>
            </a:pPr>
            <a:r>
              <a:rPr sz="1100" b="1" i="0">
                <a:solidFill>
                  <a:srgbClr val="1D4ED8"/>
                </a:solidFill>
                <a:latin typeface="Segoe UI"/>
              </a:rPr>
              <a:t>B.  </a:t>
            </a:r>
            <a:r>
              <a:rPr sz="1100" b="0" i="0">
                <a:solidFill>
                  <a:srgbClr val="3F3F46"/>
                </a:solidFill>
                <a:latin typeface="Segoe UI"/>
              </a:rPr>
              <a:t>Reinforcement Learning from Human Feedback (RLHF) from scratch.</a:t>
            </a:r>
          </a:p>
          <a:p>
            <a:pPr>
              <a:spcAft>
                <a:spcPts val="800"/>
              </a:spcAft>
            </a:pPr>
            <a:r>
              <a:rPr sz="1100" b="1" i="0">
                <a:solidFill>
                  <a:srgbClr val="1D4ED8"/>
                </a:solidFill>
                <a:latin typeface="Segoe UI"/>
              </a:rPr>
              <a:t>C.  </a:t>
            </a:r>
            <a:r>
              <a:rPr sz="1100" b="0" i="0">
                <a:solidFill>
                  <a:srgbClr val="3F3F46"/>
                </a:solidFill>
                <a:latin typeface="Segoe UI"/>
              </a:rPr>
              <a:t>Parameter-Efficient Fine-Tuning (PEFT) using Low-Rank Adaptation (LoRA) to freeze base weights and train only small adapter matrices.</a:t>
            </a:r>
          </a:p>
          <a:p>
            <a:pPr>
              <a:spcAft>
                <a:spcPts val="800"/>
              </a:spcAft>
            </a:pPr>
            <a:r>
              <a:rPr sz="1100" b="1" i="0">
                <a:solidFill>
                  <a:srgbClr val="1D4ED8"/>
                </a:solidFill>
                <a:latin typeface="Segoe UI"/>
              </a:rPr>
              <a:t>D.  </a:t>
            </a:r>
            <a:r>
              <a:rPr sz="1100" b="0" i="0">
                <a:solidFill>
                  <a:srgbClr val="3F3F46"/>
                </a:solidFill>
                <a:latin typeface="Segoe UI"/>
              </a:rPr>
              <a:t>Unsupervised pre-training on medical databases.</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C</a:t>
            </a:r>
          </a:p>
          <a:p>
            <a:pPr>
              <a:spcAft>
                <a:spcPts val="1400"/>
              </a:spcAft>
            </a:pPr>
            <a:r>
              <a:rPr sz="1100" b="0" i="0">
                <a:solidFill>
                  <a:srgbClr val="3F3F46"/>
                </a:solidFill>
                <a:latin typeface="Segoe UI"/>
              </a:rPr>
              <a:t>Explanation: PEFT/LoRA freezes the pre-trained model parameters and introduces small, trainable rank decomposition matrices. This dramatically reduces GPU memory requirements and training times, making custom domain training highly cost-efficient.</a:t>
            </a:r>
          </a:p>
          <a:p>
            <a:r>
              <a:rPr sz="950" b="0" i="1">
                <a:solidFill>
                  <a:srgbClr val="71717A"/>
                </a:solidFill>
                <a:latin typeface="Segoe UI"/>
              </a:rPr>
              <a:t>GCP Reference: Vertex AI - Tuning Overview (https://cloud.google.com/vertex-ai/docs/generative-ai/tuning/tuning-overview)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6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Model Distillation</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An automotive company wants to run a natural language voice assistant inside cars. The hardware in the car has severe memory and processing limits and cannot host a large model. However, the assistant must mimic the reasoning quality of Gemini 1.5 Pro. How can Vertex AI solve this?</a:t>
            </a:r>
          </a:p>
          <a:p>
            <a:pPr>
              <a:spcAft>
                <a:spcPts val="800"/>
              </a:spcAft>
            </a:pPr>
            <a:r>
              <a:rPr sz="1100" b="1" i="0">
                <a:solidFill>
                  <a:srgbClr val="1D4ED8"/>
                </a:solidFill>
                <a:latin typeface="Segoe UI"/>
              </a:rPr>
              <a:t>A.  </a:t>
            </a:r>
            <a:r>
              <a:rPr sz="1100" b="0" i="0">
                <a:solidFill>
                  <a:srgbClr val="3F3F46"/>
                </a:solidFill>
                <a:latin typeface="Segoe UI"/>
              </a:rPr>
              <a:t>Set up a high-performance TPU cluster inside the car dashboard.</a:t>
            </a:r>
          </a:p>
          <a:p>
            <a:pPr>
              <a:spcAft>
                <a:spcPts val="800"/>
              </a:spcAft>
            </a:pPr>
            <a:r>
              <a:rPr sz="1100" b="1" i="0">
                <a:solidFill>
                  <a:srgbClr val="1D4ED8"/>
                </a:solidFill>
                <a:latin typeface="Segoe UI"/>
              </a:rPr>
              <a:t>B.  </a:t>
            </a:r>
            <a:r>
              <a:rPr sz="1100" b="0" i="0">
                <a:solidFill>
                  <a:srgbClr val="3F3F46"/>
                </a:solidFill>
                <a:latin typeface="Segoe UI"/>
              </a:rPr>
              <a:t>Execute a Model Distillation job on Vertex AI, using Gemini 1.5 Pro as the teacher to train a small, compact student model (like Gemma 2B) for edge deployment.</a:t>
            </a:r>
          </a:p>
          <a:p>
            <a:pPr>
              <a:spcAft>
                <a:spcPts val="800"/>
              </a:spcAft>
            </a:pPr>
            <a:r>
              <a:rPr sz="1100" b="1" i="0">
                <a:solidFill>
                  <a:srgbClr val="1D4ED8"/>
                </a:solidFill>
                <a:latin typeface="Segoe UI"/>
              </a:rPr>
              <a:t>C.  </a:t>
            </a:r>
            <a:r>
              <a:rPr sz="1100" b="0" i="0">
                <a:solidFill>
                  <a:srgbClr val="3F3F46"/>
                </a:solidFill>
                <a:latin typeface="Segoe UI"/>
              </a:rPr>
              <a:t>Deploy a gRPC API connection requiring active satellite cellular networks.</a:t>
            </a:r>
          </a:p>
          <a:p>
            <a:pPr>
              <a:spcAft>
                <a:spcPts val="800"/>
              </a:spcAft>
            </a:pPr>
            <a:r>
              <a:rPr sz="1100" b="1" i="0">
                <a:solidFill>
                  <a:srgbClr val="1D4ED8"/>
                </a:solidFill>
                <a:latin typeface="Segoe UI"/>
              </a:rPr>
              <a:t>D.  </a:t>
            </a:r>
            <a:r>
              <a:rPr sz="1100" b="0" i="0">
                <a:solidFill>
                  <a:srgbClr val="3F3F46"/>
                </a:solidFill>
                <a:latin typeface="Segoe UI"/>
              </a:rPr>
              <a:t>Convert the model weights to TF Lite format without retraining.</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Model distillation on Vertex AI uses a large, high-capability teacher model to train a smaller student model. The student model learns to approximate the teacher's outputs, enabling lightweight, low-latency deployments that retain high reasoning quality.</a:t>
            </a:r>
          </a:p>
          <a:p>
            <a:r>
              <a:rPr sz="950" b="0" i="1">
                <a:solidFill>
                  <a:srgbClr val="71717A"/>
                </a:solidFill>
                <a:latin typeface="Segoe UI"/>
              </a:rPr>
              <a:t>GCP Reference: Vertex AI - Model Distillation (https://cloud.google.com/vertex-ai/docs/generative-ai/models/distill-model)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7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Enforcing Structured JSON Outputs</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A travel booking app uses Gemini to extract flight details (origin, destination, departure date) from customer emails. The extracted data must be fed into a legacy database that strictly accepts only valid JSON matching a specific schema. How should you invoke the Gemini API?</a:t>
            </a:r>
          </a:p>
          <a:p>
            <a:pPr>
              <a:spcAft>
                <a:spcPts val="800"/>
              </a:spcAft>
            </a:pPr>
            <a:r>
              <a:rPr sz="1100" b="1" i="0">
                <a:solidFill>
                  <a:srgbClr val="1D4ED8"/>
                </a:solidFill>
                <a:latin typeface="Segoe UI"/>
              </a:rPr>
              <a:t>A.  </a:t>
            </a:r>
            <a:r>
              <a:rPr sz="1100" b="0" i="0">
                <a:solidFill>
                  <a:srgbClr val="3F3F46"/>
                </a:solidFill>
                <a:latin typeface="Segoe UI"/>
              </a:rPr>
              <a:t>Instruct the model in the prompt to write JSON and write a regex parser to fix errors.</a:t>
            </a:r>
          </a:p>
          <a:p>
            <a:pPr>
              <a:spcAft>
                <a:spcPts val="800"/>
              </a:spcAft>
            </a:pPr>
            <a:r>
              <a:rPr sz="1100" b="1" i="0">
                <a:solidFill>
                  <a:srgbClr val="1D4ED8"/>
                </a:solidFill>
                <a:latin typeface="Segoe UI"/>
              </a:rPr>
              <a:t>B.  </a:t>
            </a:r>
            <a:r>
              <a:rPr sz="1100" b="0" i="0">
                <a:solidFill>
                  <a:srgbClr val="3F3F46"/>
                </a:solidFill>
                <a:latin typeface="Segoe UI"/>
              </a:rPr>
              <a:t>Use supervised fine-tuning to teach the model JSON syntax.</a:t>
            </a:r>
          </a:p>
          <a:p>
            <a:pPr>
              <a:spcAft>
                <a:spcPts val="800"/>
              </a:spcAft>
            </a:pPr>
            <a:r>
              <a:rPr sz="1100" b="1" i="0">
                <a:solidFill>
                  <a:srgbClr val="1D4ED8"/>
                </a:solidFill>
                <a:latin typeface="Segoe UI"/>
              </a:rPr>
              <a:t>C.  </a:t>
            </a:r>
            <a:r>
              <a:rPr sz="1100" b="0" i="0">
                <a:solidFill>
                  <a:srgbClr val="3F3F46"/>
                </a:solidFill>
                <a:latin typeface="Segoe UI"/>
              </a:rPr>
              <a:t>Define a JSON schema using OpenAPI standards and pass it as the responseSchema configuration parameter in the generation config.</a:t>
            </a:r>
          </a:p>
          <a:p>
            <a:pPr>
              <a:spcAft>
                <a:spcPts val="800"/>
              </a:spcAft>
            </a:pPr>
            <a:r>
              <a:rPr sz="1100" b="1" i="0">
                <a:solidFill>
                  <a:srgbClr val="1D4ED8"/>
                </a:solidFill>
                <a:latin typeface="Segoe UI"/>
              </a:rPr>
              <a:t>D.  </a:t>
            </a:r>
            <a:r>
              <a:rPr sz="1100" b="0" i="0">
                <a:solidFill>
                  <a:srgbClr val="3F3F46"/>
                </a:solidFill>
                <a:latin typeface="Segoe UI"/>
              </a:rPr>
              <a:t>Call Document AI Form Parser before prompting the model.</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C</a:t>
            </a:r>
          </a:p>
          <a:p>
            <a:pPr>
              <a:spcAft>
                <a:spcPts val="1400"/>
              </a:spcAft>
            </a:pPr>
            <a:r>
              <a:rPr sz="1100" b="0" i="0">
                <a:solidFill>
                  <a:srgbClr val="3F3F46"/>
                </a:solidFill>
                <a:latin typeface="Segoe UI"/>
              </a:rPr>
              <a:t>Explanation: The Gemini API supports schema enforcement. By passing an OpenAPI schema in responseSchema (and setting responseMimeType to application/json), the model is constrained to generate outputs that strictly comply with the target JSON structure, preventing parser errors.</a:t>
            </a:r>
          </a:p>
          <a:p>
            <a:r>
              <a:rPr sz="950" b="0" i="1">
                <a:solidFill>
                  <a:srgbClr val="71717A"/>
                </a:solidFill>
                <a:latin typeface="Segoe UI"/>
              </a:rPr>
              <a:t>GCP Reference: Vertex AI - Enforcing Schema (https://cloud.google.com/vertex-ai/docs/generative-ai/multimodal/control-structured-output)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8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IAM Permissions for Prompt Design</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An external contractor joins your team to help prototype prompts and system instructions inside Vertex AI Studio. The contractor should not be able to train custom models, deploy endpoints, or access production billing. What IAM role is appropriate?</a:t>
            </a:r>
          </a:p>
          <a:p>
            <a:pPr>
              <a:spcAft>
                <a:spcPts val="800"/>
              </a:spcAft>
            </a:pPr>
            <a:r>
              <a:rPr sz="1100" b="1" i="0">
                <a:solidFill>
                  <a:srgbClr val="1D4ED8"/>
                </a:solidFill>
                <a:latin typeface="Segoe UI"/>
              </a:rPr>
              <a:t>A.  </a:t>
            </a:r>
            <a:r>
              <a:rPr sz="1100" b="0" i="0">
                <a:solidFill>
                  <a:srgbClr val="3F3F46"/>
                </a:solidFill>
                <a:latin typeface="Segoe UI"/>
              </a:rPr>
              <a:t>roles/aiplatform.admin</a:t>
            </a:r>
          </a:p>
          <a:p>
            <a:pPr>
              <a:spcAft>
                <a:spcPts val="800"/>
              </a:spcAft>
            </a:pPr>
            <a:r>
              <a:rPr sz="1100" b="1" i="0">
                <a:solidFill>
                  <a:srgbClr val="1D4ED8"/>
                </a:solidFill>
                <a:latin typeface="Segoe UI"/>
              </a:rPr>
              <a:t>B.  </a:t>
            </a:r>
            <a:r>
              <a:rPr sz="1100" b="0" i="0">
                <a:solidFill>
                  <a:srgbClr val="3F3F46"/>
                </a:solidFill>
                <a:latin typeface="Segoe UI"/>
              </a:rPr>
              <a:t>roles/viewer</a:t>
            </a:r>
          </a:p>
          <a:p>
            <a:pPr>
              <a:spcAft>
                <a:spcPts val="800"/>
              </a:spcAft>
            </a:pPr>
            <a:r>
              <a:rPr sz="1100" b="1" i="0">
                <a:solidFill>
                  <a:srgbClr val="1D4ED8"/>
                </a:solidFill>
                <a:latin typeface="Segoe UI"/>
              </a:rPr>
              <a:t>C.  </a:t>
            </a:r>
            <a:r>
              <a:rPr sz="1100" b="0" i="0">
                <a:solidFill>
                  <a:srgbClr val="3F3F46"/>
                </a:solidFill>
                <a:latin typeface="Segoe UI"/>
              </a:rPr>
              <a:t>roles/aiplatform.user</a:t>
            </a:r>
          </a:p>
          <a:p>
            <a:pPr>
              <a:spcAft>
                <a:spcPts val="800"/>
              </a:spcAft>
            </a:pPr>
            <a:r>
              <a:rPr sz="1100" b="1" i="0">
                <a:solidFill>
                  <a:srgbClr val="1D4ED8"/>
                </a:solidFill>
                <a:latin typeface="Segoe UI"/>
              </a:rPr>
              <a:t>D.  </a:t>
            </a:r>
            <a:r>
              <a:rPr sz="1100" b="0" i="0">
                <a:solidFill>
                  <a:srgbClr val="3F3F46"/>
                </a:solidFill>
                <a:latin typeface="Segoe UI"/>
              </a:rPr>
              <a:t>roles/bigquery.dataEditor</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C</a:t>
            </a:r>
          </a:p>
          <a:p>
            <a:pPr>
              <a:spcAft>
                <a:spcPts val="1400"/>
              </a:spcAft>
            </a:pPr>
            <a:r>
              <a:rPr sz="1100" b="0" i="0">
                <a:solidFill>
                  <a:srgbClr val="3F3F46"/>
                </a:solidFill>
                <a:latin typeface="Segoe UI"/>
              </a:rPr>
              <a:t>Explanation: The roles/aiplatform.user role provides the necessary permissions to prototype prompts, call model prediction routes, and use Vertex AI Studio playgrounds, while restricting access to administrative settings.</a:t>
            </a:r>
          </a:p>
          <a:p>
            <a:r>
              <a:rPr sz="950" b="0" i="1">
                <a:solidFill>
                  <a:srgbClr val="71717A"/>
                </a:solidFill>
                <a:latin typeface="Segoe UI"/>
              </a:rPr>
              <a:t>GCP Reference: Vertex AI - Access Control (https://cloud.google.com/vertex-ai/docs/general/access-control)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9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Mitigating Summary Hallucinations</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A hospital uses a model to summarize patient discharge notes. During trials, the model occasionally inserts fabricated medications not present in the patient's records. Which strategy is most effective to eliminate these hallucinations?</a:t>
            </a:r>
          </a:p>
          <a:p>
            <a:pPr>
              <a:spcAft>
                <a:spcPts val="800"/>
              </a:spcAft>
            </a:pPr>
            <a:r>
              <a:rPr sz="1100" b="1" i="0">
                <a:solidFill>
                  <a:srgbClr val="1D4ED8"/>
                </a:solidFill>
                <a:latin typeface="Segoe UI"/>
              </a:rPr>
              <a:t>A.  </a:t>
            </a:r>
            <a:r>
              <a:rPr sz="1100" b="0" i="0">
                <a:solidFill>
                  <a:srgbClr val="3F3F46"/>
                </a:solidFill>
                <a:latin typeface="Segoe UI"/>
              </a:rPr>
              <a:t>Set the Temperature to 1.5 and increase Top-K.</a:t>
            </a:r>
          </a:p>
          <a:p>
            <a:pPr>
              <a:spcAft>
                <a:spcPts val="800"/>
              </a:spcAft>
            </a:pPr>
            <a:r>
              <a:rPr sz="1100" b="1" i="0">
                <a:solidFill>
                  <a:srgbClr val="1D4ED8"/>
                </a:solidFill>
                <a:latin typeface="Segoe UI"/>
              </a:rPr>
              <a:t>B.  </a:t>
            </a:r>
            <a:r>
              <a:rPr sz="1100" b="0" i="0">
                <a:solidFill>
                  <a:srgbClr val="3F3F46"/>
                </a:solidFill>
                <a:latin typeface="Segoe UI"/>
              </a:rPr>
              <a:t>Apply supervised fine-tuning with a general vocabulary corpus.</a:t>
            </a:r>
          </a:p>
          <a:p>
            <a:pPr>
              <a:spcAft>
                <a:spcPts val="800"/>
              </a:spcAft>
            </a:pPr>
            <a:r>
              <a:rPr sz="1100" b="1" i="0">
                <a:solidFill>
                  <a:srgbClr val="1D4ED8"/>
                </a:solidFill>
                <a:latin typeface="Segoe UI"/>
              </a:rPr>
              <a:t>C.  </a:t>
            </a:r>
            <a:r>
              <a:rPr sz="1100" b="0" i="0">
                <a:solidFill>
                  <a:srgbClr val="3F3F46"/>
                </a:solidFill>
                <a:latin typeface="Segoe UI"/>
              </a:rPr>
              <a:t>Ground the model by passing the complete medical record in the prompt context and setting the Temperature to 0.0 to enforce strict factual compliance.</a:t>
            </a:r>
          </a:p>
          <a:p>
            <a:pPr>
              <a:spcAft>
                <a:spcPts val="800"/>
              </a:spcAft>
            </a:pPr>
            <a:r>
              <a:rPr sz="1100" b="1" i="0">
                <a:solidFill>
                  <a:srgbClr val="1D4ED8"/>
                </a:solidFill>
                <a:latin typeface="Segoe UI"/>
              </a:rPr>
              <a:t>D.  </a:t>
            </a:r>
            <a:r>
              <a:rPr sz="1100" b="0" i="0">
                <a:solidFill>
                  <a:srgbClr val="3F3F46"/>
                </a:solidFill>
                <a:latin typeface="Segoe UI"/>
              </a:rPr>
              <a:t>Switch to a smaller model size.</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C</a:t>
            </a:r>
          </a:p>
          <a:p>
            <a:pPr>
              <a:spcAft>
                <a:spcPts val="1400"/>
              </a:spcAft>
            </a:pPr>
            <a:r>
              <a:rPr sz="1100" b="0" i="0">
                <a:solidFill>
                  <a:srgbClr val="3F3F46"/>
                </a:solidFill>
                <a:latin typeface="Segoe UI"/>
              </a:rPr>
              <a:t>Explanation: Hallucinations are mitigated by grounding the model in the source context and setting the Temperature to 0.0 (or very low) to make token selection deterministic. This forces the model to synthesize text strictly from the provided inputs.</a:t>
            </a:r>
          </a:p>
          <a:p>
            <a:r>
              <a:rPr sz="950" b="0" i="1">
                <a:solidFill>
                  <a:srgbClr val="71717A"/>
                </a:solidFill>
                <a:latin typeface="Segoe UI"/>
              </a:rPr>
              <a:t>GCP Reference: Vertex AI - Grounding Generative Models (https://cloud.google.com/blog/products/ai-machine-learning/grounding-generative-ai-models-with-vertex-ai)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10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Optimizing Token Costs</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run a customer support chatbot that pre-loads a massive 50,000-token company FAQ context into every prompt. The chatbot processes thousands of queries hourly, leading to high API token costs. How can you optimize costs on Vertex AI?</a:t>
            </a:r>
          </a:p>
          <a:p>
            <a:pPr>
              <a:spcAft>
                <a:spcPts val="800"/>
              </a:spcAft>
            </a:pPr>
            <a:r>
              <a:rPr sz="1100" b="1" i="0">
                <a:solidFill>
                  <a:srgbClr val="1D4ED8"/>
                </a:solidFill>
                <a:latin typeface="Segoe UI"/>
              </a:rPr>
              <a:t>A.  </a:t>
            </a:r>
            <a:r>
              <a:rPr sz="1100" b="0" i="0">
                <a:solidFill>
                  <a:srgbClr val="3F3F46"/>
                </a:solidFill>
                <a:latin typeface="Segoe UI"/>
              </a:rPr>
              <a:t>Shorten the FAQ list manually to 500 tokens.</a:t>
            </a:r>
          </a:p>
          <a:p>
            <a:pPr>
              <a:spcAft>
                <a:spcPts val="800"/>
              </a:spcAft>
            </a:pPr>
            <a:r>
              <a:rPr sz="1100" b="1" i="0">
                <a:solidFill>
                  <a:srgbClr val="1D4ED8"/>
                </a:solidFill>
                <a:latin typeface="Segoe UI"/>
              </a:rPr>
              <a:t>B.  </a:t>
            </a:r>
            <a:r>
              <a:rPr sz="1100" b="0" i="0">
                <a:solidFill>
                  <a:srgbClr val="3F3F46"/>
                </a:solidFill>
                <a:latin typeface="Segoe UI"/>
              </a:rPr>
              <a:t>Enable Context Caching on Vertex AI to cache the FAQ token representations, paying a lower rate for cached tokens during subsequent queries.</a:t>
            </a:r>
          </a:p>
          <a:p>
            <a:pPr>
              <a:spcAft>
                <a:spcPts val="800"/>
              </a:spcAft>
            </a:pPr>
            <a:r>
              <a:rPr sz="1100" b="1" i="0">
                <a:solidFill>
                  <a:srgbClr val="1D4ED8"/>
                </a:solidFill>
                <a:latin typeface="Segoe UI"/>
              </a:rPr>
              <a:t>C.  </a:t>
            </a:r>
            <a:r>
              <a:rPr sz="1100" b="0" i="0">
                <a:solidFill>
                  <a:srgbClr val="3F3F46"/>
                </a:solidFill>
                <a:latin typeface="Segoe UI"/>
              </a:rPr>
              <a:t>Migrate the model to run locally on a VM instance.</a:t>
            </a:r>
          </a:p>
          <a:p>
            <a:pPr>
              <a:spcAft>
                <a:spcPts val="800"/>
              </a:spcAft>
            </a:pPr>
            <a:r>
              <a:rPr sz="1100" b="1" i="0">
                <a:solidFill>
                  <a:srgbClr val="1D4ED8"/>
                </a:solidFill>
                <a:latin typeface="Segoe UI"/>
              </a:rPr>
              <a:t>D.  </a:t>
            </a:r>
            <a:r>
              <a:rPr sz="1100" b="0" i="0">
                <a:solidFill>
                  <a:srgbClr val="3F3F46"/>
                </a:solidFill>
                <a:latin typeface="Segoe UI"/>
              </a:rPr>
              <a:t>Increase the Temperature to compress outputs.</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Context Caching allows caching of large, static context data (such as FAQs, system instructions, or document chunks) in the Gemini API. Subsequent calls referencing the cache pay a significantly lower rate for token processing, optimizing cost and reducing latency.</a:t>
            </a:r>
          </a:p>
          <a:p>
            <a:r>
              <a:rPr sz="950" b="0" i="1">
                <a:solidFill>
                  <a:srgbClr val="71717A"/>
                </a:solidFill>
                <a:latin typeface="Segoe UI"/>
              </a:rPr>
              <a:t>GCP Reference: Vertex AI - Context Caching Overview (https://cloud.google.com/vertex-ai/docs/generative-ai/context-caching-overview)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