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GOOGLE CLOUD GENAI</a:t>
            </a:r>
          </a:p>
          <a:p>
            <a:pPr>
              <a:spcAft>
                <a:spcPts val="1600"/>
              </a:spcAft>
            </a:pPr>
            <a:r>
              <a:rPr sz="4800" b="1" i="0">
                <a:solidFill>
                  <a:srgbClr val="18181B"/>
                </a:solidFill>
                <a:latin typeface="Segoe UI"/>
              </a:rPr>
              <a:t>Introduction to Generative AI</a:t>
            </a:r>
          </a:p>
          <a:p>
            <a:pPr>
              <a:spcAft>
                <a:spcPts val="3600"/>
              </a:spcAft>
            </a:pPr>
            <a:r>
              <a:rPr sz="1600" b="0" i="0">
                <a:solidFill>
                  <a:srgbClr val="3F3F46"/>
                </a:solidFill>
                <a:latin typeface="Segoe UI"/>
              </a:rPr>
              <a:t>Core Concepts, Transformer Architectures, LLM Pre-training, and Enterprise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303520"/>
            <a:ext cx="103601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 i="0">
                <a:solidFill>
                  <a:srgbClr val="71717A"/>
                </a:solidFill>
                <a:latin typeface="Segoe UI"/>
              </a:rPr>
              <a:t>Presenter: Bethanasamy Rajamani  |  Audience: Professional ML Engineer Candidates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Core Challenges in GenAI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Hallucination Risks: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Models generate fluent but factually incorrect statements due to statistical next-token optimization.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Context Window Limits: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Transformers can process only a limited number of tokens in memory, leading to retrieval failures on massive corpora.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High Inference Costs: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Auto-regressive decoding is memory-bound, demanding persistent high-tier GPU/TPU resources.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A customer support chatbot attempts to quote insurance terms. Without grounding, it fabricates a refund policy (hallucination). At 10,000 queries per minute, standard API serving costs scale exponentially (high inference costs).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Why Standard NLP Falls Short</a:t>
            </a:r>
          </a:p>
          <a:p>
            <a:pPr>
              <a:spcAft>
                <a:spcPts val="1600"/>
              </a:spcAft>
            </a:pPr>
            <a:r>
              <a:rPr sz="1100" b="0" i="0">
                <a:solidFill>
                  <a:srgbClr val="3F3F46"/>
                </a:solidFill>
                <a:latin typeface="Segoe UI"/>
              </a:rPr>
              <a:t>Traditional rule-based and classification NLP models (such as BERT or simple LSTM classifiers) are excellent for sentiment scoring or named entity extraction. However, they lack the semantic reasoning, zero-shot generalization, and synthesis capabilities required to build interactive reasoning agents.</a:t>
            </a:r>
          </a:p>
          <a:p>
            <a:r>
              <a:rPr sz="1050" b="1" i="0">
                <a:solidFill>
                  <a:srgbClr val="1D4ED8"/>
                </a:solidFill>
                <a:latin typeface="Segoe UI"/>
              </a:rPr>
              <a:t>Example: Writing custom classification rules for 50 different document layouts is inefficient compared to prompting a foundation model to extract structured JSON.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ARCHITECTURAL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What is Generative AI?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217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18181B"/>
                </a:solidFill>
                <a:latin typeface="Segoe UI"/>
              </a:rPr>
              <a:t>A category of artificial intelligence that creates new content, utilizing massive pre-trained transformer weights.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621792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Centralized Foundation Models: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Trained on internet-scale datasets, forming baseline reasoning capabilities.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Multimodality: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Natively processes and connects diverse modalities including text, images, video, and audio code.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Transfer Learning: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Repurposes general knowledge to specific downstream tasks via fine-tuning or in-context prompting.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A business analyst inputs natural language questions. The model generates both the SQL query and an explanatory summary, translating unstructured language into structured system database queries.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Operational Benefits</a:t>
            </a:r>
          </a:p>
          <a:p>
            <a:pPr>
              <a:spcBef>
                <a:spcPts val="400"/>
              </a:spcBef>
            </a:pPr>
            <a:r>
              <a:rPr sz="1200" b="1" i="0">
                <a:solidFill>
                  <a:srgbClr val="1D4ED8"/>
                </a:solidFill>
                <a:latin typeface="Segoe UI"/>
              </a:rPr>
              <a:t>⚡ Zero-Shot Reasoning Capabilities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3F3F46"/>
                </a:solidFill>
                <a:latin typeface="Segoe UI"/>
              </a:rPr>
              <a:t>Solves new, unseen tasks simply by receiving descriptive prompts without requiring model gradient updates or parameter fine-tuning.</a:t>
            </a:r>
          </a:p>
          <a:p>
            <a:r>
              <a:rPr sz="1200" b="1" i="0">
                <a:solidFill>
                  <a:srgbClr val="047857"/>
                </a:solidFill>
                <a:latin typeface="Segoe UI"/>
              </a:rPr>
              <a:t>🔄 API Scalability &amp; Managed Access</a:t>
            </a:r>
          </a:p>
          <a:p>
            <a:pPr>
              <a:spcAft>
                <a:spcPts val="1000"/>
              </a:spcAft>
            </a:pPr>
            <a:r>
              <a:rPr sz="1050" b="0" i="0">
                <a:solidFill>
                  <a:srgbClr val="3F3F46"/>
                </a:solidFill>
                <a:latin typeface="Segoe UI"/>
              </a:rPr>
              <a:t>Deploy models serverless via the Gemini API, eliminating custom hardware hosting, scaling, and load-balancer operations.</a:t>
            </a:r>
          </a:p>
          <a:p>
            <a:r>
              <a:rPr sz="1200" b="1" i="0">
                <a:solidFill>
                  <a:srgbClr val="BE185D"/>
                </a:solidFill>
                <a:latin typeface="Segoe UI"/>
              </a:rPr>
              <a:t>🔗 Rapid Application Deployment Loops</a:t>
            </a:r>
          </a:p>
          <a:p>
            <a:r>
              <a:rPr sz="1050" b="0" i="0">
                <a:solidFill>
                  <a:srgbClr val="3F3F46"/>
                </a:solidFill>
                <a:latin typeface="Segoe UI"/>
              </a:rPr>
              <a:t>Decouples model engineering from software features. Application logic adjusts by updating system prompts rather than retraining pipelines.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Transformer Architecture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Self-Attention Layer: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Calculates dynamic mathematical weights representing how tokens relate within a context window.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Encoder-Decoder Blocks: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Encodes input text into vector spaces, and decodes vectors to target sequences (ideal for translation).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Decoder-Only Autoregressive: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Generates next tokens sequentially based on past contexts (backbone of modern Gemini/LLMs).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Input Tokens = ["Generative", "AI", "is"]. Self-attention maps that "AI" strongly relates to "Generative", predicting the next probable token "transformational".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Key Design Pattern</a:t>
            </a:r>
          </a:p>
          <a:p>
            <a:r>
              <a:rPr sz="1100" b="0" i="0">
                <a:solidFill>
                  <a:srgbClr val="3F3F46"/>
                </a:solidFill>
                <a:latin typeface="Segoe UI"/>
              </a:rPr>
              <a:t>Raw inputs are tokenized and mapped to continuous vector Embeddings. Positional Encodings are added to maintain sequence order. Multi-head attention blocks then capture relationships in parallel, outputting normalized token probabilities.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INGESTION PIPELINES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Pre-training &amp; Fine-Tuning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Unsupervised Pre-training: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Large-scale model training on raw text corpus to predict next words, building baseline semantics.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Supervised Fine-Tuning (SFT):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Trains the base model on high-quality instruction-response pairs to learn task compliance.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RLHF Alignment: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Integrates Reinforcement Learning from Human Feedback to align outputs with safety and preferences.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Raw internet scrap builds a Base Model. Supervised training on 50,000 chat logs creates an SFT Model. Reward optimization aligned with human reviewers produces a final chat-ready LLM.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Active Model Training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2286000"/>
            <a:ext cx="1554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18181B"/>
                </a:solidFill>
                <a:latin typeface="Segoe UI"/>
              </a:rPr>
              <a:t>Raw Text</a:t>
            </a:r>
            <a:br/>
            <a:r>
              <a:t>(Unlabeled)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2286000"/>
            <a:ext cx="1554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18181B"/>
                </a:solidFill>
                <a:latin typeface="Segoe UI"/>
              </a:rPr>
              <a:t>Base Model</a:t>
            </a:r>
            <a:br/>
            <a:r>
              <a:t>(Weights)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4114800"/>
            <a:ext cx="155448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18181B"/>
                </a:solidFill>
                <a:latin typeface="Segoe UI"/>
              </a:rPr>
              <a:t>SFT Model</a:t>
            </a:r>
            <a:br/>
            <a:r>
              <a:t>(Instruction Tuned)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4114800"/>
            <a:ext cx="1554480" cy="548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18181B"/>
                </a:solidFill>
                <a:latin typeface="Segoe UI"/>
              </a:rPr>
              <a:t>RLHF Model</a:t>
            </a:r>
            <a:br/>
            <a:r>
              <a:t>(Aligned Preferences)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0" y="2560320"/>
            <a:ext cx="457200" cy="0"/>
          </a:xfrm>
          <a:prstGeom prst="line">
            <a:avLst/>
          </a:prstGeom>
          <a:ln w="25400">
            <a:solidFill>
              <a:srgbClr val="BE185D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8366760" y="2834640"/>
            <a:ext cx="2011680" cy="1280160"/>
          </a:xfrm>
          <a:prstGeom prst="line">
            <a:avLst/>
          </a:prstGeom>
          <a:ln w="25400">
            <a:solidFill>
              <a:srgbClr val="04785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0" y="4389120"/>
            <a:ext cx="457200" cy="0"/>
          </a:xfrm>
          <a:prstGeom prst="line">
            <a:avLst/>
          </a:prstGeom>
          <a:ln w="25400">
            <a:solidFill>
              <a:srgbClr val="1D4ED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SERVING (LOW LATENCY)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LLM Inference 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Tokenization &amp; Embeddings: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Input text is broken down into unique numerical token IDs, mapped to semantic vector spaces.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KV Caching: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Stores key-value attention representations of past tokens, skipping redundant matrix calculations during generation loops.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Decoding Parameters: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Parameters like Temperature and Top-K/Top-P shape output selection, controlling creativity vs consistency.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An API endpoint receives a prompt. It tokenizes inputs, processes them through transformer layers in 24ms (Time-To-First-Token), and streams generated tokens sequentially over HTTP/2.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Online Token generation &amp; KV Loop</a:t>
            </a:r>
          </a:p>
        </p:txBody>
      </p:sp>
      <p:sp>
        <p:nvSpPr>
          <p:cNvPr id="7" name="Oval 6"/>
          <p:cNvSpPr/>
          <p:nvPr/>
        </p:nvSpPr>
        <p:spPr>
          <a:xfrm>
            <a:off x="7772400" y="310896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F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8181B"/>
                </a:solidFill>
                <a:latin typeface="Segoe UI"/>
              </a:rPr>
              <a:t>Model API</a:t>
            </a:r>
          </a:p>
        </p:txBody>
      </p:sp>
      <p:sp>
        <p:nvSpPr>
          <p:cNvPr id="8" name="Oval 7"/>
          <p:cNvSpPr/>
          <p:nvPr/>
        </p:nvSpPr>
        <p:spPr>
          <a:xfrm>
            <a:off x="9875520" y="3108960"/>
            <a:ext cx="1097280" cy="10972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i="0">
                <a:solidFill>
                  <a:srgbClr val="18181B"/>
                </a:solidFill>
                <a:latin typeface="Segoe UI"/>
              </a:rPr>
              <a:t>LLM Core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869680" y="3383280"/>
            <a:ext cx="1005840" cy="0"/>
          </a:xfrm>
          <a:prstGeom prst="line">
            <a:avLst/>
          </a:prstGeom>
          <a:ln w="25400">
            <a:solidFill>
              <a:srgbClr val="047857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869680" y="3931920"/>
            <a:ext cx="1005840" cy="0"/>
          </a:xfrm>
          <a:prstGeom prst="line">
            <a:avLst/>
          </a:prstGeom>
          <a:ln w="25400">
            <a:solidFill>
              <a:srgbClr val="1D4ED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23960" y="2377440"/>
            <a:ext cx="1097280" cy="457200"/>
          </a:xfrm>
          <a:prstGeom prst="roundRect">
            <a:avLst/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 i="0">
                <a:solidFill>
                  <a:srgbClr val="047857"/>
                </a:solidFill>
                <a:latin typeface="Consolas"/>
              </a:rPr>
              <a:t>24ms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SERVING (ANALYTICAL)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Retrieval-Augmented Generation (RAG)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Document Chunking: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Divides large enterprise manuals into overlapping semantic text snippets for indexing.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Vector Embeddings: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Encodes document chunks into dense coordinate vectors using text embedding models.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Semantic Join: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Searches vector spaces using cosine similarity to find document context segments matching user queries.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A user asks: "What is our Q3 cloud budget?" The system searches Vector Search, retrieves a table chunk from q3_financials.pdf, and injects it to ground the LLM's response.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Query Vector Sweep &amp; Semantic Match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3474720"/>
            <a:ext cx="3383280" cy="36576"/>
          </a:xfrm>
          <a:prstGeom prst="rect">
            <a:avLst/>
          </a:prstGeom>
          <a:solidFill>
            <a:srgbClr val="D4D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3383280"/>
            <a:ext cx="228600" cy="2286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0" y="3383280"/>
            <a:ext cx="228600" cy="22860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32720" y="3383280"/>
            <a:ext cx="228600" cy="228600"/>
          </a:xfrm>
          <a:prstGeom prst="ellipse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4080" y="2377440"/>
            <a:ext cx="36576" cy="18288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9202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4ED8"/>
                </a:solidFill>
                <a:latin typeface="Segoe UI"/>
              </a:rPr>
              <a:t>Query Vector Sweep (Cosine Lookup)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297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E185D"/>
                </a:solidFill>
                <a:latin typeface="Segoe UI"/>
              </a:rPr>
              <a:t>[Semantic Context Injected]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DEVELOPER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Vertex AI Gemini API SDK (Python)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8181B"/>
                </a:solidFill>
                <a:latin typeface="Segoe UI"/>
              </a:rPr>
              <a:t>Interacting with Gemini models programmatically using the official google-genai library: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0725912" cy="3108960"/>
          </a:xfrm>
          <a:prstGeom prst="rect">
            <a:avLst/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BE185D"/>
                </a:solidFill>
                <a:latin typeface="Consolas"/>
              </a:rPr>
              <a:t>from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google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1" i="0">
                <a:solidFill>
                  <a:srgbClr val="BE185D"/>
                </a:solidFill>
                <a:latin typeface="Consolas"/>
              </a:rPr>
              <a:t>import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genai</a:t>
            </a:r>
          </a:p>
          <a:p>
            <a:pPr>
              <a:spcAft>
                <a:spcPts val="200"/>
              </a:spcAft>
            </a:pPr>
            <a:r>
              <a:rPr sz="950" b="1" i="0">
                <a:solidFill>
                  <a:srgbClr val="BE185D"/>
                </a:solidFill>
                <a:latin typeface="Consolas"/>
              </a:rPr>
              <a:t>from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google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.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genai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1" i="0">
                <a:solidFill>
                  <a:srgbClr val="BE185D"/>
                </a:solidFill>
                <a:latin typeface="Consolas"/>
              </a:rPr>
              <a:t>import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types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client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=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genai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.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Client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(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950" b="0" i="1">
                <a:solidFill>
                  <a:srgbClr val="71717A"/>
                </a:solidFill>
                <a:latin typeface="Consolas"/>
              </a:rPr>
              <a:t># Generate grounded text using Gemini 1.5 Flash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response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=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client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.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models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.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generate_content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(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model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=</a:t>
            </a:r>
            <a:r>
              <a:rPr sz="950" b="0" i="0">
                <a:solidFill>
                  <a:srgbClr val="047857"/>
                </a:solidFill>
                <a:latin typeface="Consolas"/>
              </a:rPr>
              <a:t>"gemini-1.5-flash"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,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contents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=</a:t>
            </a:r>
            <a:r>
              <a:rPr sz="950" b="0" i="0">
                <a:solidFill>
                  <a:srgbClr val="047857"/>
                </a:solidFill>
                <a:latin typeface="Consolas"/>
              </a:rPr>
              <a:t>"What is the self-attention mechanism in Transformers?"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,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config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=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types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.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GenerateContentConfig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(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temperature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=</a:t>
            </a:r>
            <a:r>
              <a:rPr sz="950" b="0" i="0">
                <a:solidFill>
                  <a:srgbClr val="1D4ED8"/>
                </a:solidFill>
                <a:latin typeface="Consolas"/>
              </a:rPr>
              <a:t>0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.</a:t>
            </a:r>
            <a:r>
              <a:rPr sz="950" b="0" i="0">
                <a:solidFill>
                  <a:srgbClr val="1D4ED8"/>
                </a:solidFill>
                <a:latin typeface="Consolas"/>
              </a:rPr>
              <a:t>2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,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system_instruction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=</a:t>
            </a:r>
            <a:r>
              <a:rPr sz="950" b="0" i="0">
                <a:solidFill>
                  <a:srgbClr val="047857"/>
                </a:solidFill>
                <a:latin typeface="Consolas"/>
              </a:rPr>
              <a:t>"You are an expert GCP ML Certification Instructor."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 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3F3F46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950" b="1" i="0">
                <a:solidFill>
                  <a:srgbClr val="BE185D"/>
                </a:solidFill>
                <a:latin typeface="Consolas"/>
              </a:rPr>
              <a:t>print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(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response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.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text</a:t>
            </a:r>
            <a:r>
              <a:rPr sz="950" b="0" i="0">
                <a:solidFill>
                  <a:srgbClr val="3F3F46"/>
                </a:solidFill>
                <a:latin typeface="Consolas"/>
              </a:rPr>
              <a:t>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10725912" cy="109728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This code is used inside web services to call Gemini. Configuring low temperature (0.2) and clear system instructions guarantees focused, fact-grounded responses for API callers.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OPERATIONS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Google Cloud CLI &amp; Curl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8181B"/>
                </a:solidFill>
                <a:latin typeface="Segoe UI"/>
              </a:rPr>
              <a:t>Interacting with Vertex AI model endpoints directly via command line and curl: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0725912" cy="3108960"/>
          </a:xfrm>
          <a:prstGeom prst="rect">
            <a:avLst/>
          </a:prstGeom>
          <a:solidFill>
            <a:srgbClr val="F4F4F5"/>
          </a:solidFill>
          <a:ln w="1270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200"/>
              </a:spcAft>
            </a:pPr>
            <a:r>
              <a:rPr sz="950" b="0" i="1">
                <a:solidFill>
                  <a:srgbClr val="71717A"/>
                </a:solidFill>
                <a:latin typeface="Consolas"/>
              </a:rPr>
              <a:t># Call Gemini API via curl using gcloud authorization tokens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D4ED8"/>
                </a:solidFill>
                <a:latin typeface="Consolas"/>
              </a:rPr>
              <a:t>curl </a:t>
            </a:r>
            <a:r>
              <a:rPr sz="950" b="0" i="0">
                <a:solidFill>
                  <a:srgbClr val="BE185D"/>
                </a:solidFill>
                <a:latin typeface="Consolas"/>
              </a:rPr>
              <a:t>-X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POST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\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BE185D"/>
                </a:solidFill>
                <a:latin typeface="Consolas"/>
              </a:rPr>
              <a:t>-H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"Authorization: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Bearer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$(gcloud </a:t>
            </a:r>
            <a:r>
              <a:rPr sz="950" b="0" i="0">
                <a:solidFill>
                  <a:srgbClr val="1D4ED8"/>
                </a:solidFill>
                <a:latin typeface="Consolas"/>
              </a:rPr>
              <a:t>auth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print-access-token)"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\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BE185D"/>
                </a:solidFill>
                <a:latin typeface="Consolas"/>
              </a:rPr>
              <a:t>-H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"Content-Type: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application/json"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\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https://us-central1-aiplatform.googleapis.com/v1/projects/${PROJECT_ID}/locations/us-central1/publishers/google/models/gemini-1.5-flash:generateContent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\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BE185D"/>
                </a:solidFill>
                <a:latin typeface="Consolas"/>
              </a:rPr>
              <a:t>-d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'{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"contents":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{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"parts":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{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"text":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"Explain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transfer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learning."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}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},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"generationConfig":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{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"temperature":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0.4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 </a:t>
            </a:r>
            <a:r>
              <a:rPr sz="950" b="0" i="0">
                <a:solidFill>
                  <a:srgbClr val="18181B"/>
                </a:solidFill>
                <a:latin typeface="Consolas"/>
              </a:rPr>
              <a:t>}'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29200"/>
            <a:ext cx="10725912" cy="109728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Sysadmins run these CLI checks inside deployment test files to verify that Google Cloud credentials and API routing policies are properly aligned before launching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MLOPS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LLM Safety &amp; Monitoring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Content Moderation Filters: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Built-in safety hooks that evaluate model queries and responses for harassment, hate speech, and explicit blocks.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Semantic Drift Checks: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Monitoring client prompt query patterns over time to capture task drift or adversarial injection patterns.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Guardrails Integration: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Wrapping model routes with external middleware to filter toxic language prior to client presentation.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An input prompt contains toxic patterns. The Vertex AI safety layer intercepts the request, blocks execution, and returns a structured response indicating a blocked classification.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MLOps Operations Loop</a:t>
            </a:r>
          </a:p>
          <a:p>
            <a:r>
              <a:rPr sz="1150" b="0" i="0">
                <a:solidFill>
                  <a:srgbClr val="3F3F46"/>
                </a:solidFill>
                <a:latin typeface="Segoe UI"/>
              </a:rPr>
              <a:t>Deploying models in production requires active validation loops. Integrating safety checks in the prediction pipeline prevents reputation risks, toxic outputs, and jailbreak exploits.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SECURITY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IAM Permissions &amp; Security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roles/aiplatform.user: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Allows invoking foundation models, running predictions, and running prompt lookups.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roles/aiplatform.admin: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Allows full access to import datasets, deploy custom endpoints, and delete models.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VPC Service Controls: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Wraps Gemini calls in virtual security networks, blocking data extraction to external networks.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The frontend service account is granted the aiplatform.user role, enabling it to call Gemini predictions while blocking structural configuration edits.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4D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Security Rule</a:t>
            </a:r>
          </a:p>
          <a:p>
            <a:r>
              <a:rPr sz="1150" b="0" i="0">
                <a:solidFill>
                  <a:srgbClr val="3F3F46"/>
                </a:solidFill>
                <a:latin typeface="Segoe UI"/>
              </a:rPr>
              <a:t>Service accounts attached to web servers must be restricted to roles/aiplatform.user to adhere to the principle of least privilege, preventing model registry access.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4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1D4ED8"/>
                </a:solidFill>
                <a:latin typeface="Segoe U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 i="0">
                <a:solidFill>
                  <a:srgbClr val="18181B"/>
                </a:solidFill>
                <a:latin typeface="Segoe UI"/>
              </a:rPr>
              <a:t>Architect's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Zero-Shot/Few-Shot: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First attempt prompting configurations before investing in custom parameter tuning.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Retrieval-Augmented Gen: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Ground models using Vector Search to mitigate hallucinations and present fresh datasets.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Cost/Latency: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Select Gemini Flash for quick, budget serving. Reserve Pro for complex reasoning.</a:t>
            </a:r>
          </a:p>
          <a:p>
            <a:pPr>
              <a:spcAft>
                <a:spcPts val="1200"/>
              </a:spcAft>
            </a:pPr>
            <a:r>
              <a:rPr sz="1300" b="1" i="0">
                <a:solidFill>
                  <a:srgbClr val="1D4ED8"/>
                </a:solidFill>
                <a:latin typeface="Segoe UI"/>
              </a:rPr>
              <a:t>→  </a:t>
            </a:r>
            <a:r>
              <a:rPr sz="1250" b="1" i="0">
                <a:solidFill>
                  <a:srgbClr val="18181B"/>
                </a:solidFill>
                <a:latin typeface="Segoe UI"/>
              </a:rPr>
              <a:t>Governance: </a:t>
            </a:r>
            <a:r>
              <a:rPr sz="1250" b="0" i="0">
                <a:solidFill>
                  <a:srgbClr val="3F3F46"/>
                </a:solidFill>
                <a:latin typeface="Segoe UI"/>
              </a:rPr>
              <a:t>Enforce IAM role boundaries and safety filter limits at the endpoint level.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6217920" cy="1371600"/>
          </a:xfrm>
          <a:prstGeom prst="rect">
            <a:avLst/>
          </a:prstGeom>
          <a:solidFill>
            <a:srgbClr val="F4F4F5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1D4ED8"/>
                </a:solidFill>
                <a:latin typeface="Segoe UI"/>
              </a:rPr>
              <a:t>REAL-WORLD EXAMPLE</a:t>
            </a:r>
          </a:p>
          <a:p>
            <a:r>
              <a:rPr sz="1000" b="0" i="1">
                <a:solidFill>
                  <a:srgbClr val="3F3F46"/>
                </a:solidFill>
                <a:latin typeface="Segoe UI"/>
              </a:rPr>
              <a:t>On the exam, if a scenario asks to connect private enterprise PDF documents with LLM outputs without model retraining, the answer is always RAG with Vector Search.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</a:pPr>
            <a:r>
              <a:rPr sz="1600" b="1" i="0">
                <a:solidFill>
                  <a:srgbClr val="18181B"/>
                </a:solidFill>
                <a:latin typeface="Segoe UI"/>
              </a:rPr>
              <a:t>Exam Tip</a:t>
            </a:r>
          </a:p>
          <a:p>
            <a:r>
              <a:rPr sz="1150" b="0" i="0">
                <a:solidFill>
                  <a:srgbClr val="3F3F46"/>
                </a:solidFill>
                <a:latin typeface="Segoe UI"/>
              </a:rPr>
              <a:t>If the exam asks to adapt a model to proprietary, frequently changing documentation under tight budgets, **Retrieval-Augmented Generation (RAG)** is the correct choice over custom fine-tuning.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